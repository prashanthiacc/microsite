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1" r:id="rId4"/>
  </p:sldMasterIdLst>
  <p:notesMasterIdLst>
    <p:notesMasterId r:id="rId6"/>
  </p:notesMasterIdLst>
  <p:sldIdLst>
    <p:sldId id="2147483488"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43C1AF5-C567-0517-B8A1-5CDD47367DC0}" v="1" dt="2026-03-13T06:33:40.778"/>
    <p1510:client id="{ACC17137-756F-D134-3D88-CC2DEACF6EF6}" v="2" dt="2026-03-13T06:32:55.29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1867"/>
    <p:restoredTop sz="94490"/>
  </p:normalViewPr>
  <p:slideViewPr>
    <p:cSldViewPr snapToGrid="0">
      <p:cViewPr varScale="1">
        <p:scale>
          <a:sx n="59" d="100"/>
          <a:sy n="59" d="100"/>
        </p:scale>
        <p:origin x="700" y="7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microsoft.com/office/2015/10/relationships/revisionInfo" Target="revisionInfo.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B175809-A043-064C-9CE1-E079B21B0EC6}" type="datetimeFigureOut">
              <a:rPr lang="en-US" smtClean="0"/>
              <a:t>3/18/2026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BA97842-0D67-5F4E-90E3-B32C06424070}" type="slidenum">
              <a:rPr lang="en-US" smtClean="0"/>
              <a:t>‹#›</a:t>
            </a:fld>
            <a:endParaRPr lang="en-US"/>
          </a:p>
        </p:txBody>
      </p:sp>
    </p:spTree>
    <p:extLst>
      <p:ext uri="{BB962C8B-B14F-4D97-AF65-F5344CB8AC3E}">
        <p14:creationId xmlns:p14="http://schemas.microsoft.com/office/powerpoint/2010/main" val="17200109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1216C9-93D7-0373-C53D-AA565966F6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EA0B92-59F0-2F86-7D40-15063F8FEB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A3A935-680E-19CE-ADCB-534D272E324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5A40ADF-F3FF-BAB6-5E46-DD587118AF4A}"/>
              </a:ext>
            </a:extLst>
          </p:cNvPr>
          <p:cNvSpPr>
            <a:spLocks noGrp="1"/>
          </p:cNvSpPr>
          <p:nvPr>
            <p:ph type="sldNum" sz="quarter" idx="5"/>
          </p:nvPr>
        </p:nvSpPr>
        <p:spPr/>
        <p:txBody>
          <a:bodyPr/>
          <a:lstStyle/>
          <a:p>
            <a:fld id="{F192BDCD-9D3B-0145-9BDD-5E08E2EBB215}" type="slidenum">
              <a:rPr lang="en-US" smtClean="0"/>
              <a:t>1</a:t>
            </a:fld>
            <a:endParaRPr lang="en-US"/>
          </a:p>
        </p:txBody>
      </p:sp>
    </p:spTree>
    <p:extLst>
      <p:ext uri="{BB962C8B-B14F-4D97-AF65-F5344CB8AC3E}">
        <p14:creationId xmlns:p14="http://schemas.microsoft.com/office/powerpoint/2010/main" val="42555010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jpe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F56AB74-BEB3-9F8D-EE53-637DF5766B82}"/>
              </a:ext>
            </a:extLst>
          </p:cNvPr>
          <p:cNvSpPr txBox="1"/>
          <p:nvPr userDrawn="1"/>
        </p:nvSpPr>
        <p:spPr>
          <a:xfrm>
            <a:off x="9192320" y="6535912"/>
            <a:ext cx="2583365" cy="203203"/>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lang="en-GB" sz="800">
                <a:solidFill>
                  <a:schemeClr val="tx1">
                    <a:alpha val="75000"/>
                  </a:schemeClr>
                </a:solidFill>
                <a:latin typeface="Graphik" panose="020B0503030202060203" pitchFamily="34" charset="77"/>
              </a:rPr>
              <a:t>Copyright © 2026 Accenture. All rights reserved.</a:t>
            </a:r>
            <a:endParaRPr lang="en-US" noProof="0">
              <a:solidFill>
                <a:schemeClr val="tx1">
                  <a:alpha val="75000"/>
                </a:schemeClr>
              </a:solidFill>
              <a:latin typeface="Graphik" panose="020B0503030202060203" pitchFamily="34" charset="77"/>
            </a:endParaRPr>
          </a:p>
        </p:txBody>
      </p:sp>
      <p:sp>
        <p:nvSpPr>
          <p:cNvPr id="9" name="TextBox 8">
            <a:extLst>
              <a:ext uri="{FF2B5EF4-FFF2-40B4-BE49-F238E27FC236}">
                <a16:creationId xmlns:a16="http://schemas.microsoft.com/office/drawing/2014/main" id="{6DD98EB4-D210-1E9D-891F-E6383F1547DD}"/>
              </a:ext>
            </a:extLst>
          </p:cNvPr>
          <p:cNvSpPr txBox="1"/>
          <p:nvPr userDrawn="1"/>
        </p:nvSpPr>
        <p:spPr>
          <a:xfrm>
            <a:off x="438497" y="6547104"/>
            <a:ext cx="2740127" cy="192011"/>
          </a:xfrm>
          <a:prstGeom prst="rect">
            <a:avLst/>
          </a:prstGeom>
          <a:noFill/>
        </p:spPr>
        <p:txBody>
          <a:bodyPr wrap="square" lIns="0" tIns="0" rIns="0" bIns="0" rtlCol="0">
            <a:normAutofit/>
          </a:bodyPr>
          <a:lstStyle/>
          <a:p>
            <a:r>
              <a:rPr lang="en-US" sz="1050" b="1" dirty="0">
                <a:latin typeface="Graphik Semibold" panose="020B0503030202060203" pitchFamily="34" charset="77"/>
              </a:rPr>
              <a:t>Accenture</a:t>
            </a:r>
            <a:r>
              <a:rPr lang="en-US" sz="1050" b="1" dirty="0">
                <a:solidFill>
                  <a:schemeClr val="accent3">
                    <a:lumMod val="60000"/>
                    <a:lumOff val="40000"/>
                  </a:schemeClr>
                </a:solidFill>
                <a:latin typeface="Graphik Semibold" panose="020B0503030202060203" pitchFamily="34" charset="77"/>
              </a:rPr>
              <a:t> </a:t>
            </a:r>
            <a:r>
              <a:rPr lang="en-US" sz="1050" dirty="0">
                <a:solidFill>
                  <a:srgbClr val="BC00FF"/>
                </a:solidFill>
                <a:latin typeface="Graphik" panose="020B0503030202060203" pitchFamily="34" charset="77"/>
              </a:rPr>
              <a:t>Industry X  </a:t>
            </a:r>
            <a:r>
              <a:rPr lang="en-US" sz="1050" dirty="0">
                <a:latin typeface="Graphik" panose="020B0503030202060203" pitchFamily="34" charset="77"/>
              </a:rPr>
              <a:t>|  </a:t>
            </a:r>
            <a:r>
              <a:rPr lang="en-US" sz="1050" b="1" dirty="0">
                <a:latin typeface="Graphik Semibold" panose="020B0503030202060203" pitchFamily="34" charset="77"/>
              </a:rPr>
              <a:t>NVIDIA (IX) COE</a:t>
            </a:r>
            <a:endParaRPr lang="en-US" sz="1050" dirty="0">
              <a:latin typeface="Graphik" panose="020B0503030202060203" pitchFamily="34" charset="77"/>
            </a:endParaRPr>
          </a:p>
        </p:txBody>
      </p:sp>
      <p:sp>
        <p:nvSpPr>
          <p:cNvPr id="10" name="Rounded Rectangle 9">
            <a:extLst>
              <a:ext uri="{FF2B5EF4-FFF2-40B4-BE49-F238E27FC236}">
                <a16:creationId xmlns:a16="http://schemas.microsoft.com/office/drawing/2014/main" id="{C0118B95-A318-B52B-A0A9-1AAD9E2867F1}"/>
              </a:ext>
            </a:extLst>
          </p:cNvPr>
          <p:cNvSpPr/>
          <p:nvPr userDrawn="1"/>
        </p:nvSpPr>
        <p:spPr>
          <a:xfrm>
            <a:off x="4633816" y="0"/>
            <a:ext cx="2924368" cy="210698"/>
          </a:xfrm>
          <a:prstGeom prst="roundRect">
            <a:avLst/>
          </a:prstGeom>
          <a:no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950" dirty="0">
                <a:solidFill>
                  <a:srgbClr val="C00000"/>
                </a:solidFill>
                <a:latin typeface="Graphik Medium" panose="020B0503030202060203" pitchFamily="34" charset="77"/>
              </a:rPr>
              <a:t>** Strictly Accenture Internal usage only **</a:t>
            </a:r>
            <a:endParaRPr lang="en-US" sz="950" dirty="0">
              <a:solidFill>
                <a:srgbClr val="C00000"/>
              </a:solidFill>
              <a:latin typeface="Graphik Medium" panose="020B0503030202060203" pitchFamily="34" charset="77"/>
            </a:endParaRPr>
          </a:p>
        </p:txBody>
      </p:sp>
    </p:spTree>
    <p:extLst>
      <p:ext uri="{BB962C8B-B14F-4D97-AF65-F5344CB8AC3E}">
        <p14:creationId xmlns:p14="http://schemas.microsoft.com/office/powerpoint/2010/main" val="35504037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pic>
        <p:nvPicPr>
          <p:cNvPr id="4" name="Picture 3" descr="A close-up of a colorful swirl&#10;&#10;AI-generated content may be incorrect.">
            <a:extLst>
              <a:ext uri="{FF2B5EF4-FFF2-40B4-BE49-F238E27FC236}">
                <a16:creationId xmlns:a16="http://schemas.microsoft.com/office/drawing/2014/main" id="{3246FBA3-BA67-C25D-E93D-F6A3F07AF1E3}"/>
              </a:ext>
            </a:extLst>
          </p:cNvPr>
          <p:cNvPicPr>
            <a:picLocks noChangeAspect="1"/>
          </p:cNvPicPr>
          <p:nvPr userDrawn="1"/>
        </p:nvPicPr>
        <p:blipFill rotWithShape="1">
          <a:blip r:embed="rId2" cstate="screen">
            <a:alphaModFix amt="30000"/>
            <a:extLst>
              <a:ext uri="{BEBA8EAE-BF5A-486C-A8C5-ECC9F3942E4B}">
                <a14:imgProps xmlns:a14="http://schemas.microsoft.com/office/drawing/2010/main">
                  <a14:imgLayer r:embed="rId3">
                    <a14:imgEffect>
                      <a14:saturation sat="33000"/>
                    </a14:imgEffect>
                  </a14:imgLayer>
                </a14:imgProps>
              </a:ext>
              <a:ext uri="{28A0092B-C50C-407E-A947-70E740481C1C}">
                <a14:useLocalDpi xmlns:a14="http://schemas.microsoft.com/office/drawing/2010/main"/>
              </a:ext>
            </a:extLst>
          </a:blip>
          <a:srcRect t="5236" r="2343" b="8034"/>
          <a:stretch>
            <a:fillRect/>
          </a:stretch>
        </p:blipFill>
        <p:spPr>
          <a:xfrm>
            <a:off x="0" y="-1"/>
            <a:ext cx="12192000" cy="6858003"/>
          </a:xfrm>
          <a:prstGeom prst="rect">
            <a:avLst/>
          </a:prstGeom>
        </p:spPr>
      </p:pic>
      <p:pic>
        <p:nvPicPr>
          <p:cNvPr id="5" name="Picture 4" descr="A purple and orange background&#10;&#10;AI-generated content may be incorrect.">
            <a:extLst>
              <a:ext uri="{FF2B5EF4-FFF2-40B4-BE49-F238E27FC236}">
                <a16:creationId xmlns:a16="http://schemas.microsoft.com/office/drawing/2014/main" id="{017F86C6-7C28-B917-6EFD-6FF9C7B119E4}"/>
              </a:ext>
            </a:extLst>
          </p:cNvPr>
          <p:cNvPicPr>
            <a:picLocks noChangeAspect="1"/>
          </p:cNvPicPr>
          <p:nvPr userDrawn="1"/>
        </p:nvPicPr>
        <p:blipFill>
          <a:blip r:embed="rId4" cstate="screen">
            <a:extLst>
              <a:ext uri="{28A0092B-C50C-407E-A947-70E740481C1C}">
                <a14:useLocalDpi xmlns:a14="http://schemas.microsoft.com/office/drawing/2010/main"/>
              </a:ext>
            </a:extLst>
          </a:blip>
          <a:srcRect l="31720" r="64763"/>
          <a:stretch>
            <a:fillRect/>
          </a:stretch>
        </p:blipFill>
        <p:spPr>
          <a:xfrm>
            <a:off x="1" y="0"/>
            <a:ext cx="282436" cy="6858000"/>
          </a:xfrm>
          <a:prstGeom prst="rect">
            <a:avLst/>
          </a:prstGeom>
        </p:spPr>
      </p:pic>
      <p:sp>
        <p:nvSpPr>
          <p:cNvPr id="2" name="TextBox 1">
            <a:extLst>
              <a:ext uri="{FF2B5EF4-FFF2-40B4-BE49-F238E27FC236}">
                <a16:creationId xmlns:a16="http://schemas.microsoft.com/office/drawing/2014/main" id="{2B8D87D4-C5EE-BE20-D9E2-7EAB6C69882C}"/>
              </a:ext>
            </a:extLst>
          </p:cNvPr>
          <p:cNvSpPr txBox="1"/>
          <p:nvPr userDrawn="1"/>
        </p:nvSpPr>
        <p:spPr>
          <a:xfrm>
            <a:off x="9192320" y="6535912"/>
            <a:ext cx="2583365" cy="203203"/>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lang="en-GB" sz="800">
                <a:solidFill>
                  <a:schemeClr val="tx1">
                    <a:alpha val="75000"/>
                  </a:schemeClr>
                </a:solidFill>
                <a:latin typeface="Graphik" panose="020B0503030202060203" pitchFamily="34" charset="77"/>
              </a:rPr>
              <a:t>Copyright © 2026 Accenture. All rights reserved.</a:t>
            </a:r>
            <a:endParaRPr lang="en-US" noProof="0">
              <a:solidFill>
                <a:schemeClr val="tx1">
                  <a:alpha val="75000"/>
                </a:schemeClr>
              </a:solidFill>
              <a:latin typeface="Graphik" panose="020B0503030202060203" pitchFamily="34" charset="77"/>
            </a:endParaRPr>
          </a:p>
        </p:txBody>
      </p:sp>
      <p:sp>
        <p:nvSpPr>
          <p:cNvPr id="3" name="TextBox 2">
            <a:extLst>
              <a:ext uri="{FF2B5EF4-FFF2-40B4-BE49-F238E27FC236}">
                <a16:creationId xmlns:a16="http://schemas.microsoft.com/office/drawing/2014/main" id="{F1099792-2D23-0E7E-E211-2D98D7F0408B}"/>
              </a:ext>
            </a:extLst>
          </p:cNvPr>
          <p:cNvSpPr txBox="1"/>
          <p:nvPr userDrawn="1"/>
        </p:nvSpPr>
        <p:spPr>
          <a:xfrm>
            <a:off x="612673" y="6547104"/>
            <a:ext cx="2740127" cy="192011"/>
          </a:xfrm>
          <a:prstGeom prst="rect">
            <a:avLst/>
          </a:prstGeom>
          <a:noFill/>
        </p:spPr>
        <p:txBody>
          <a:bodyPr wrap="square" lIns="0" tIns="0" rIns="0" bIns="0" rtlCol="0">
            <a:normAutofit/>
          </a:bodyPr>
          <a:lstStyle/>
          <a:p>
            <a:r>
              <a:rPr lang="en-US" sz="1050" b="1" dirty="0">
                <a:latin typeface="Graphik Semibold" panose="020B0503030202060203" pitchFamily="34" charset="77"/>
              </a:rPr>
              <a:t>Accenture</a:t>
            </a:r>
            <a:r>
              <a:rPr lang="en-US" sz="1050" b="1" dirty="0">
                <a:solidFill>
                  <a:schemeClr val="accent3">
                    <a:lumMod val="60000"/>
                    <a:lumOff val="40000"/>
                  </a:schemeClr>
                </a:solidFill>
                <a:latin typeface="Graphik Semibold" panose="020B0503030202060203" pitchFamily="34" charset="77"/>
              </a:rPr>
              <a:t> </a:t>
            </a:r>
            <a:r>
              <a:rPr lang="en-US" sz="1050" dirty="0">
                <a:solidFill>
                  <a:srgbClr val="BC00FF"/>
                </a:solidFill>
                <a:latin typeface="Graphik" panose="020B0503030202060203" pitchFamily="34" charset="77"/>
              </a:rPr>
              <a:t>Industry X</a:t>
            </a:r>
          </a:p>
        </p:txBody>
      </p:sp>
      <p:sp>
        <p:nvSpPr>
          <p:cNvPr id="6" name="Rounded Rectangle 5">
            <a:extLst>
              <a:ext uri="{FF2B5EF4-FFF2-40B4-BE49-F238E27FC236}">
                <a16:creationId xmlns:a16="http://schemas.microsoft.com/office/drawing/2014/main" id="{7DB2CB25-C028-16EC-2BA3-187548D3A92C}"/>
              </a:ext>
            </a:extLst>
          </p:cNvPr>
          <p:cNvSpPr/>
          <p:nvPr userDrawn="1"/>
        </p:nvSpPr>
        <p:spPr>
          <a:xfrm>
            <a:off x="4633816" y="0"/>
            <a:ext cx="2924368" cy="210698"/>
          </a:xfrm>
          <a:prstGeom prst="roundRect">
            <a:avLst/>
          </a:prstGeom>
          <a:no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950" dirty="0">
                <a:solidFill>
                  <a:srgbClr val="C00000"/>
                </a:solidFill>
                <a:latin typeface="Graphik Medium" panose="020B0503030202060203" pitchFamily="34" charset="77"/>
              </a:rPr>
              <a:t>** Strictly Accenture Internal usage only **</a:t>
            </a:r>
            <a:endParaRPr lang="en-US" sz="950" dirty="0">
              <a:solidFill>
                <a:srgbClr val="C00000"/>
              </a:solidFill>
              <a:latin typeface="Graphik Medium" panose="020B0503030202060203" pitchFamily="34" charset="77"/>
            </a:endParaRPr>
          </a:p>
        </p:txBody>
      </p:sp>
    </p:spTree>
    <p:extLst>
      <p:ext uri="{BB962C8B-B14F-4D97-AF65-F5344CB8AC3E}">
        <p14:creationId xmlns:p14="http://schemas.microsoft.com/office/powerpoint/2010/main" val="263561652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04724043"/>
      </p:ext>
    </p:extLst>
  </p:cSld>
  <p:clrMap bg1="lt1" tx1="dk1" bg2="lt2" tx2="dk2" accent1="accent1" accent2="accent2" accent3="accent3" accent4="accent4" accent5="accent5" accent6="accent6" hlink="hlink" folHlink="folHlink"/>
  <p:sldLayoutIdLst>
    <p:sldLayoutId id="2147483652" r:id="rId1"/>
    <p:sldLayoutId id="2147483653"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56">
          <p15:clr>
            <a:srgbClr val="F26B43"/>
          </p15:clr>
        </p15:guide>
        <p15:guide id="2" pos="264">
          <p15:clr>
            <a:srgbClr val="F26B43"/>
          </p15:clr>
        </p15:guide>
        <p15:guide id="3" orient="horz" pos="264">
          <p15:clr>
            <a:srgbClr val="F26B43"/>
          </p15:clr>
        </p15:guide>
        <p15:guide id="4" pos="7416">
          <p15:clr>
            <a:srgbClr val="F26B43"/>
          </p15:clr>
        </p15:guide>
        <p15:guide id="5"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556B2-04AF-8E82-7320-1C8C95FB163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C45A9D1-C5E0-30B2-2098-3DBEE9853E5A}"/>
              </a:ext>
            </a:extLst>
          </p:cNvPr>
          <p:cNvSpPr txBox="1"/>
          <p:nvPr/>
        </p:nvSpPr>
        <p:spPr>
          <a:xfrm>
            <a:off x="1196185" y="1560014"/>
            <a:ext cx="1570943" cy="215444"/>
          </a:xfrm>
          <a:prstGeom prst="rect">
            <a:avLst/>
          </a:prstGeom>
          <a:noFill/>
        </p:spPr>
        <p:txBody>
          <a:bodyPr wrap="none" lIns="0" tIns="0" rIns="0" bIns="0" rtlCol="0">
            <a:spAutoFit/>
          </a:bodyPr>
          <a:lstStyle/>
          <a:p>
            <a:r>
              <a:rPr lang="en-US" sz="1400" b="1" dirty="0">
                <a:solidFill>
                  <a:srgbClr val="8800C4"/>
                </a:solidFill>
                <a:latin typeface="Graphik Semibold" panose="020B0503030202060203" pitchFamily="34" charset="77"/>
              </a:rPr>
              <a:t>Business Problem</a:t>
            </a:r>
          </a:p>
        </p:txBody>
      </p:sp>
      <p:sp>
        <p:nvSpPr>
          <p:cNvPr id="3" name="TextBox 2">
            <a:extLst>
              <a:ext uri="{FF2B5EF4-FFF2-40B4-BE49-F238E27FC236}">
                <a16:creationId xmlns:a16="http://schemas.microsoft.com/office/drawing/2014/main" id="{0EA9E294-F579-A78D-6952-C09C71A1FAFB}"/>
              </a:ext>
            </a:extLst>
          </p:cNvPr>
          <p:cNvSpPr txBox="1"/>
          <p:nvPr/>
        </p:nvSpPr>
        <p:spPr>
          <a:xfrm>
            <a:off x="608004" y="1910454"/>
            <a:ext cx="4301428" cy="1661993"/>
          </a:xfrm>
          <a:prstGeom prst="rect">
            <a:avLst/>
          </a:prstGeom>
          <a:noFill/>
        </p:spPr>
        <p:txBody>
          <a:bodyPr wrap="square" lIns="0" tIns="0" rIns="0" bIns="0" rtlCol="0">
            <a:spAutoFit/>
          </a:bodyPr>
          <a:lstStyle/>
          <a:p>
            <a:r>
              <a:rPr lang="en-US" sz="900" dirty="0">
                <a:latin typeface="Graphik" panose="020B0503030202060203" pitchFamily="34" charset="0"/>
              </a:rPr>
              <a:t>Client operated 34 Körber PAS‑X MES systems spread across multiple countries, each running different versions, customizations, and languages, which created significant fragmentation and operational inconsistency. MES support processes were not standardized, and most sites relied on independent local vendors, resulting in variable SLAs and slower issue resolution. The client was highly dependent on Körber for complex problem tickets, major upgrades, and hotfix installations, leading to increased cost and longer turnaround times. Additionally, BI lacked the necessary expertise in the newer PAS‑X V3.3 containerized Linux/Kubernetes‑based architecture, causing delays in diagnosing and resolving issues. Overall, this environment elevated operational risk and impacted production continuity across BI’s global plants.</a:t>
            </a:r>
            <a:endParaRPr lang="en-IN" sz="900" dirty="0">
              <a:latin typeface="Graphik" panose="020B0503030202060203" pitchFamily="34" charset="0"/>
            </a:endParaRPr>
          </a:p>
        </p:txBody>
      </p:sp>
      <p:sp>
        <p:nvSpPr>
          <p:cNvPr id="4" name="TextBox 3">
            <a:extLst>
              <a:ext uri="{FF2B5EF4-FFF2-40B4-BE49-F238E27FC236}">
                <a16:creationId xmlns:a16="http://schemas.microsoft.com/office/drawing/2014/main" id="{11474F6D-0FB8-D7D2-09E6-481E873AB231}"/>
              </a:ext>
            </a:extLst>
          </p:cNvPr>
          <p:cNvSpPr txBox="1"/>
          <p:nvPr/>
        </p:nvSpPr>
        <p:spPr>
          <a:xfrm>
            <a:off x="1196185" y="4841285"/>
            <a:ext cx="1493999" cy="215444"/>
          </a:xfrm>
          <a:prstGeom prst="rect">
            <a:avLst/>
          </a:prstGeom>
          <a:noFill/>
        </p:spPr>
        <p:txBody>
          <a:bodyPr wrap="none" lIns="0" tIns="0" rIns="0" bIns="0" rtlCol="0">
            <a:spAutoFit/>
          </a:bodyPr>
          <a:lstStyle/>
          <a:p>
            <a:r>
              <a:rPr lang="en-US" sz="1400" b="1">
                <a:solidFill>
                  <a:srgbClr val="8800C4"/>
                </a:solidFill>
                <a:latin typeface="Graphik Semibold" panose="020B0503030202060203" pitchFamily="34" charset="77"/>
              </a:rPr>
              <a:t>Solution Insights</a:t>
            </a:r>
          </a:p>
        </p:txBody>
      </p:sp>
      <p:sp>
        <p:nvSpPr>
          <p:cNvPr id="8" name="TextBox 7">
            <a:extLst>
              <a:ext uri="{FF2B5EF4-FFF2-40B4-BE49-F238E27FC236}">
                <a16:creationId xmlns:a16="http://schemas.microsoft.com/office/drawing/2014/main" id="{256CA204-C8CC-14DE-339B-BC3A84589C84}"/>
              </a:ext>
            </a:extLst>
          </p:cNvPr>
          <p:cNvSpPr txBox="1"/>
          <p:nvPr/>
        </p:nvSpPr>
        <p:spPr>
          <a:xfrm>
            <a:off x="643784" y="5173423"/>
            <a:ext cx="4293351" cy="1384995"/>
          </a:xfrm>
          <a:prstGeom prst="rect">
            <a:avLst/>
          </a:prstGeom>
          <a:noFill/>
        </p:spPr>
        <p:txBody>
          <a:bodyPr wrap="square" lIns="0" tIns="0" rIns="0" bIns="0" rtlCol="0">
            <a:spAutoFit/>
          </a:bodyPr>
          <a:lstStyle/>
          <a:p>
            <a:r>
              <a:rPr lang="en-US" sz="900" dirty="0">
                <a:latin typeface="Graphik" panose="020B0503030202060203" pitchFamily="34" charset="77"/>
              </a:rPr>
              <a:t>Accenture introduced a hybrid global support model that combined ITIL‑driven governance with 24×7 expert MES operations across all BI sites. Approximately 40% of the team focused on standardizing processes, compliance, monitoring, KPI reporting, and vendor coordination, while the remaining 60% provided centralized L1.5–L3 PAS‑X support in English, German, and Spanish. The team took ownership of all PAS‑X installations, upgrades, DR management, and template enhancements, significantly reducing dependency on Körber. Accenture also enabled seamless support of the PAS‑X V3.3 Kubernetes‑based architecture, bringing specialized platform knowledge into BI’s operating model.</a:t>
            </a:r>
            <a:endParaRPr lang="en-IN" sz="900" dirty="0">
              <a:latin typeface="Graphik" panose="020B0503030202060203" pitchFamily="34" charset="77"/>
            </a:endParaRPr>
          </a:p>
        </p:txBody>
      </p:sp>
      <p:sp>
        <p:nvSpPr>
          <p:cNvPr id="11" name="TextBox 10">
            <a:extLst>
              <a:ext uri="{FF2B5EF4-FFF2-40B4-BE49-F238E27FC236}">
                <a16:creationId xmlns:a16="http://schemas.microsoft.com/office/drawing/2014/main" id="{F5B533B7-C81F-71FE-35A1-66A426BDB278}"/>
              </a:ext>
            </a:extLst>
          </p:cNvPr>
          <p:cNvSpPr txBox="1"/>
          <p:nvPr/>
        </p:nvSpPr>
        <p:spPr>
          <a:xfrm>
            <a:off x="5711628" y="1558901"/>
            <a:ext cx="1402628" cy="215444"/>
          </a:xfrm>
          <a:prstGeom prst="rect">
            <a:avLst/>
          </a:prstGeom>
          <a:noFill/>
        </p:spPr>
        <p:txBody>
          <a:bodyPr wrap="none" lIns="0" tIns="0" rIns="0" bIns="0" rtlCol="0">
            <a:spAutoFit/>
          </a:bodyPr>
          <a:lstStyle/>
          <a:p>
            <a:r>
              <a:rPr lang="en-US" sz="1400" b="1">
                <a:solidFill>
                  <a:srgbClr val="8800C4"/>
                </a:solidFill>
                <a:latin typeface="Graphik Semibold" panose="020B0503030202060203" pitchFamily="34" charset="77"/>
              </a:rPr>
              <a:t>Value Delivered</a:t>
            </a:r>
          </a:p>
        </p:txBody>
      </p:sp>
      <p:sp>
        <p:nvSpPr>
          <p:cNvPr id="12" name="TextBox 11">
            <a:extLst>
              <a:ext uri="{FF2B5EF4-FFF2-40B4-BE49-F238E27FC236}">
                <a16:creationId xmlns:a16="http://schemas.microsoft.com/office/drawing/2014/main" id="{1404B6CC-AB34-2AD0-74EE-E5D4BCF58F8B}"/>
              </a:ext>
            </a:extLst>
          </p:cNvPr>
          <p:cNvSpPr txBox="1"/>
          <p:nvPr/>
        </p:nvSpPr>
        <p:spPr>
          <a:xfrm>
            <a:off x="5108598" y="1938162"/>
            <a:ext cx="6664301" cy="553998"/>
          </a:xfrm>
          <a:prstGeom prst="rect">
            <a:avLst/>
          </a:prstGeom>
          <a:noFill/>
        </p:spPr>
        <p:txBody>
          <a:bodyPr wrap="square" lIns="0" tIns="0" rIns="0" bIns="0" rtlCol="0">
            <a:spAutoFit/>
          </a:bodyPr>
          <a:lstStyle/>
          <a:p>
            <a:r>
              <a:rPr lang="en-US" sz="900" dirty="0">
                <a:latin typeface="Graphik" panose="020B0503030202060203" pitchFamily="34" charset="77"/>
              </a:rPr>
              <a:t>Accenture delivered a unified, ITIL‑aligned MES support framework that eliminated siloed site‑level operations and improved MES stability across BI’s manufacturing network. The standardized model enabled consistent triaging, improved visibility into global MES performance, and strengthened production reliability. This transformation also streamlined upgrades, reduced operational delays, and increased compliance readiness across all sites.</a:t>
            </a:r>
            <a:endParaRPr lang="en-IN" sz="900" dirty="0">
              <a:latin typeface="Graphik" panose="020B0503030202060203" pitchFamily="34" charset="77"/>
            </a:endParaRPr>
          </a:p>
        </p:txBody>
      </p:sp>
      <p:grpSp>
        <p:nvGrpSpPr>
          <p:cNvPr id="52" name="Group 51">
            <a:extLst>
              <a:ext uri="{FF2B5EF4-FFF2-40B4-BE49-F238E27FC236}">
                <a16:creationId xmlns:a16="http://schemas.microsoft.com/office/drawing/2014/main" id="{E0696D13-AA29-B1D3-3EED-A7F72CFE2968}"/>
              </a:ext>
            </a:extLst>
          </p:cNvPr>
          <p:cNvGrpSpPr>
            <a:grpSpLocks noChangeAspect="1"/>
          </p:cNvGrpSpPr>
          <p:nvPr/>
        </p:nvGrpSpPr>
        <p:grpSpPr>
          <a:xfrm>
            <a:off x="610114" y="1446548"/>
            <a:ext cx="369017" cy="442377"/>
            <a:chOff x="495789" y="3102670"/>
            <a:chExt cx="369017" cy="442377"/>
          </a:xfrm>
        </p:grpSpPr>
        <p:sp>
          <p:nvSpPr>
            <p:cNvPr id="68" name="Google Shape;2311;p78">
              <a:extLst>
                <a:ext uri="{FF2B5EF4-FFF2-40B4-BE49-F238E27FC236}">
                  <a16:creationId xmlns:a16="http://schemas.microsoft.com/office/drawing/2014/main" id="{45F7E247-F754-67C2-6A59-E53AC7254D52}"/>
                </a:ext>
              </a:extLst>
            </p:cNvPr>
            <p:cNvSpPr/>
            <p:nvPr/>
          </p:nvSpPr>
          <p:spPr>
            <a:xfrm>
              <a:off x="495789" y="3158746"/>
              <a:ext cx="369017" cy="386301"/>
            </a:xfrm>
            <a:custGeom>
              <a:avLst/>
              <a:gdLst/>
              <a:ahLst/>
              <a:cxnLst/>
              <a:rect l="l" t="t" r="r" b="b"/>
              <a:pathLst>
                <a:path w="240" h="252" extrusionOk="0">
                  <a:moveTo>
                    <a:pt x="234" y="252"/>
                  </a:moveTo>
                  <a:cubicBezTo>
                    <a:pt x="6" y="252"/>
                    <a:pt x="6" y="252"/>
                    <a:pt x="6" y="252"/>
                  </a:cubicBezTo>
                  <a:cubicBezTo>
                    <a:pt x="3" y="252"/>
                    <a:pt x="0" y="250"/>
                    <a:pt x="0" y="246"/>
                  </a:cubicBezTo>
                  <a:cubicBezTo>
                    <a:pt x="0" y="6"/>
                    <a:pt x="0" y="6"/>
                    <a:pt x="0" y="6"/>
                  </a:cubicBezTo>
                  <a:cubicBezTo>
                    <a:pt x="0" y="3"/>
                    <a:pt x="3" y="0"/>
                    <a:pt x="6" y="0"/>
                  </a:cubicBezTo>
                  <a:cubicBezTo>
                    <a:pt x="72" y="0"/>
                    <a:pt x="72" y="0"/>
                    <a:pt x="72" y="0"/>
                  </a:cubicBezTo>
                  <a:cubicBezTo>
                    <a:pt x="75" y="0"/>
                    <a:pt x="78" y="3"/>
                    <a:pt x="78" y="6"/>
                  </a:cubicBezTo>
                  <a:cubicBezTo>
                    <a:pt x="78" y="10"/>
                    <a:pt x="75" y="12"/>
                    <a:pt x="72" y="12"/>
                  </a:cubicBezTo>
                  <a:cubicBezTo>
                    <a:pt x="12" y="12"/>
                    <a:pt x="12" y="12"/>
                    <a:pt x="12" y="12"/>
                  </a:cubicBezTo>
                  <a:cubicBezTo>
                    <a:pt x="12" y="240"/>
                    <a:pt x="12" y="240"/>
                    <a:pt x="12" y="240"/>
                  </a:cubicBezTo>
                  <a:cubicBezTo>
                    <a:pt x="228" y="240"/>
                    <a:pt x="228" y="240"/>
                    <a:pt x="228" y="240"/>
                  </a:cubicBezTo>
                  <a:cubicBezTo>
                    <a:pt x="228" y="12"/>
                    <a:pt x="228" y="12"/>
                    <a:pt x="228" y="12"/>
                  </a:cubicBezTo>
                  <a:cubicBezTo>
                    <a:pt x="168" y="12"/>
                    <a:pt x="168" y="12"/>
                    <a:pt x="168" y="12"/>
                  </a:cubicBezTo>
                  <a:cubicBezTo>
                    <a:pt x="165" y="12"/>
                    <a:pt x="162" y="10"/>
                    <a:pt x="162" y="6"/>
                  </a:cubicBezTo>
                  <a:cubicBezTo>
                    <a:pt x="162" y="3"/>
                    <a:pt x="165" y="0"/>
                    <a:pt x="168" y="0"/>
                  </a:cubicBezTo>
                  <a:cubicBezTo>
                    <a:pt x="234" y="0"/>
                    <a:pt x="234" y="0"/>
                    <a:pt x="234" y="0"/>
                  </a:cubicBezTo>
                  <a:cubicBezTo>
                    <a:pt x="237" y="0"/>
                    <a:pt x="240" y="3"/>
                    <a:pt x="240" y="6"/>
                  </a:cubicBezTo>
                  <a:cubicBezTo>
                    <a:pt x="240" y="246"/>
                    <a:pt x="240" y="246"/>
                    <a:pt x="240" y="246"/>
                  </a:cubicBezTo>
                  <a:cubicBezTo>
                    <a:pt x="240" y="250"/>
                    <a:pt x="237" y="252"/>
                    <a:pt x="234" y="252"/>
                  </a:cubicBezTo>
                  <a:close/>
                </a:path>
              </a:pathLst>
            </a:custGeom>
            <a:gradFill>
              <a:gsLst>
                <a:gs pos="0">
                  <a:srgbClr val="4B0372"/>
                </a:gs>
                <a:gs pos="100000">
                  <a:srgbClr val="BE59D8"/>
                </a:gs>
              </a:gsLst>
              <a:lin ang="0" scaled="1"/>
            </a:gradFill>
            <a:ln w="1027" cap="flat">
              <a:noFill/>
              <a:prstDash val="solid"/>
              <a:miter/>
            </a:ln>
          </p:spPr>
          <p:txBody>
            <a:bodyPr/>
            <a:lstStyle/>
            <a:p>
              <a:endParaRPr>
                <a:sym typeface="Inter"/>
              </a:endParaRPr>
            </a:p>
          </p:txBody>
        </p:sp>
        <p:sp>
          <p:nvSpPr>
            <p:cNvPr id="70" name="Google Shape;2312;p78">
              <a:extLst>
                <a:ext uri="{FF2B5EF4-FFF2-40B4-BE49-F238E27FC236}">
                  <a16:creationId xmlns:a16="http://schemas.microsoft.com/office/drawing/2014/main" id="{7846607C-94F9-AD19-A6CB-B7F4482D5123}"/>
                </a:ext>
              </a:extLst>
            </p:cNvPr>
            <p:cNvSpPr/>
            <p:nvPr/>
          </p:nvSpPr>
          <p:spPr>
            <a:xfrm>
              <a:off x="597658" y="3102670"/>
              <a:ext cx="165278" cy="129805"/>
            </a:xfrm>
            <a:custGeom>
              <a:avLst/>
              <a:gdLst/>
              <a:ahLst/>
              <a:cxnLst/>
              <a:rect l="l" t="t" r="r" b="b"/>
              <a:pathLst>
                <a:path w="108" h="84" extrusionOk="0">
                  <a:moveTo>
                    <a:pt x="102" y="84"/>
                  </a:moveTo>
                  <a:cubicBezTo>
                    <a:pt x="6" y="84"/>
                    <a:pt x="6" y="84"/>
                    <a:pt x="6" y="84"/>
                  </a:cubicBezTo>
                  <a:cubicBezTo>
                    <a:pt x="3" y="84"/>
                    <a:pt x="0" y="82"/>
                    <a:pt x="0" y="78"/>
                  </a:cubicBezTo>
                  <a:cubicBezTo>
                    <a:pt x="0" y="30"/>
                    <a:pt x="0" y="30"/>
                    <a:pt x="0" y="30"/>
                  </a:cubicBezTo>
                  <a:cubicBezTo>
                    <a:pt x="0" y="27"/>
                    <a:pt x="3" y="24"/>
                    <a:pt x="6" y="24"/>
                  </a:cubicBezTo>
                  <a:cubicBezTo>
                    <a:pt x="25" y="24"/>
                    <a:pt x="25" y="24"/>
                    <a:pt x="25" y="24"/>
                  </a:cubicBezTo>
                  <a:cubicBezTo>
                    <a:pt x="27" y="11"/>
                    <a:pt x="40" y="0"/>
                    <a:pt x="54" y="0"/>
                  </a:cubicBezTo>
                  <a:cubicBezTo>
                    <a:pt x="69" y="0"/>
                    <a:pt x="81" y="11"/>
                    <a:pt x="83" y="24"/>
                  </a:cubicBezTo>
                  <a:cubicBezTo>
                    <a:pt x="102" y="24"/>
                    <a:pt x="102" y="24"/>
                    <a:pt x="102" y="24"/>
                  </a:cubicBezTo>
                  <a:cubicBezTo>
                    <a:pt x="105" y="24"/>
                    <a:pt x="108" y="27"/>
                    <a:pt x="108" y="30"/>
                  </a:cubicBezTo>
                  <a:cubicBezTo>
                    <a:pt x="108" y="78"/>
                    <a:pt x="108" y="78"/>
                    <a:pt x="108" y="78"/>
                  </a:cubicBezTo>
                  <a:cubicBezTo>
                    <a:pt x="108" y="82"/>
                    <a:pt x="105" y="84"/>
                    <a:pt x="102" y="84"/>
                  </a:cubicBezTo>
                  <a:close/>
                  <a:moveTo>
                    <a:pt x="12" y="72"/>
                  </a:moveTo>
                  <a:cubicBezTo>
                    <a:pt x="96" y="72"/>
                    <a:pt x="96" y="72"/>
                    <a:pt x="96" y="72"/>
                  </a:cubicBezTo>
                  <a:cubicBezTo>
                    <a:pt x="96" y="36"/>
                    <a:pt x="96" y="36"/>
                    <a:pt x="96" y="36"/>
                  </a:cubicBezTo>
                  <a:cubicBezTo>
                    <a:pt x="78" y="36"/>
                    <a:pt x="78" y="36"/>
                    <a:pt x="78" y="36"/>
                  </a:cubicBezTo>
                  <a:cubicBezTo>
                    <a:pt x="75" y="36"/>
                    <a:pt x="72" y="34"/>
                    <a:pt x="72" y="30"/>
                  </a:cubicBezTo>
                  <a:cubicBezTo>
                    <a:pt x="72" y="21"/>
                    <a:pt x="64" y="12"/>
                    <a:pt x="54" y="12"/>
                  </a:cubicBezTo>
                  <a:cubicBezTo>
                    <a:pt x="44" y="12"/>
                    <a:pt x="36" y="21"/>
                    <a:pt x="36" y="30"/>
                  </a:cubicBezTo>
                  <a:cubicBezTo>
                    <a:pt x="36" y="34"/>
                    <a:pt x="33" y="36"/>
                    <a:pt x="30" y="36"/>
                  </a:cubicBezTo>
                  <a:cubicBezTo>
                    <a:pt x="12" y="36"/>
                    <a:pt x="12" y="36"/>
                    <a:pt x="12" y="36"/>
                  </a:cubicBezTo>
                  <a:lnTo>
                    <a:pt x="12" y="72"/>
                  </a:lnTo>
                  <a:close/>
                  <a:moveTo>
                    <a:pt x="84" y="30"/>
                  </a:moveTo>
                  <a:cubicBezTo>
                    <a:pt x="84" y="30"/>
                    <a:pt x="84" y="30"/>
                    <a:pt x="84" y="30"/>
                  </a:cubicBezTo>
                  <a:close/>
                </a:path>
              </a:pathLst>
            </a:custGeom>
            <a:gradFill>
              <a:gsLst>
                <a:gs pos="0">
                  <a:srgbClr val="4B0372"/>
                </a:gs>
                <a:gs pos="100000">
                  <a:srgbClr val="BE59D8"/>
                </a:gs>
              </a:gsLst>
              <a:lin ang="0" scaled="1"/>
            </a:gradFill>
            <a:ln w="1027" cap="flat">
              <a:noFill/>
              <a:prstDash val="solid"/>
              <a:miter/>
            </a:ln>
          </p:spPr>
          <p:txBody>
            <a:bodyPr/>
            <a:lstStyle/>
            <a:p>
              <a:endParaRPr>
                <a:sym typeface="Inter"/>
              </a:endParaRPr>
            </a:p>
          </p:txBody>
        </p:sp>
        <p:sp>
          <p:nvSpPr>
            <p:cNvPr id="71" name="Google Shape;2313;p78">
              <a:extLst>
                <a:ext uri="{FF2B5EF4-FFF2-40B4-BE49-F238E27FC236}">
                  <a16:creationId xmlns:a16="http://schemas.microsoft.com/office/drawing/2014/main" id="{E4F262D5-B37D-7B73-9351-198EF2C414F9}"/>
                </a:ext>
              </a:extLst>
            </p:cNvPr>
            <p:cNvSpPr/>
            <p:nvPr/>
          </p:nvSpPr>
          <p:spPr>
            <a:xfrm>
              <a:off x="532171" y="3195091"/>
              <a:ext cx="296253" cy="313610"/>
            </a:xfrm>
            <a:custGeom>
              <a:avLst/>
              <a:gdLst/>
              <a:ahLst/>
              <a:cxnLst/>
              <a:rect l="l" t="t" r="r" b="b"/>
              <a:pathLst>
                <a:path w="192" h="204" extrusionOk="0">
                  <a:moveTo>
                    <a:pt x="144" y="204"/>
                  </a:moveTo>
                  <a:cubicBezTo>
                    <a:pt x="144" y="204"/>
                    <a:pt x="144" y="204"/>
                    <a:pt x="144" y="204"/>
                  </a:cubicBezTo>
                  <a:cubicBezTo>
                    <a:pt x="6" y="204"/>
                    <a:pt x="6" y="204"/>
                    <a:pt x="6" y="204"/>
                  </a:cubicBezTo>
                  <a:cubicBezTo>
                    <a:pt x="3" y="204"/>
                    <a:pt x="0" y="202"/>
                    <a:pt x="0" y="198"/>
                  </a:cubicBezTo>
                  <a:cubicBezTo>
                    <a:pt x="0" y="6"/>
                    <a:pt x="0" y="6"/>
                    <a:pt x="0" y="6"/>
                  </a:cubicBezTo>
                  <a:cubicBezTo>
                    <a:pt x="0" y="3"/>
                    <a:pt x="3" y="0"/>
                    <a:pt x="6" y="0"/>
                  </a:cubicBezTo>
                  <a:cubicBezTo>
                    <a:pt x="48" y="0"/>
                    <a:pt x="48" y="0"/>
                    <a:pt x="48" y="0"/>
                  </a:cubicBezTo>
                  <a:cubicBezTo>
                    <a:pt x="51" y="0"/>
                    <a:pt x="54" y="3"/>
                    <a:pt x="54" y="6"/>
                  </a:cubicBezTo>
                  <a:cubicBezTo>
                    <a:pt x="54" y="10"/>
                    <a:pt x="51" y="12"/>
                    <a:pt x="48" y="12"/>
                  </a:cubicBezTo>
                  <a:cubicBezTo>
                    <a:pt x="12" y="12"/>
                    <a:pt x="12" y="12"/>
                    <a:pt x="12" y="12"/>
                  </a:cubicBezTo>
                  <a:cubicBezTo>
                    <a:pt x="12" y="192"/>
                    <a:pt x="12" y="192"/>
                    <a:pt x="12" y="192"/>
                  </a:cubicBezTo>
                  <a:cubicBezTo>
                    <a:pt x="141" y="192"/>
                    <a:pt x="141" y="192"/>
                    <a:pt x="141" y="192"/>
                  </a:cubicBezTo>
                  <a:cubicBezTo>
                    <a:pt x="180" y="148"/>
                    <a:pt x="180" y="148"/>
                    <a:pt x="180" y="148"/>
                  </a:cubicBezTo>
                  <a:cubicBezTo>
                    <a:pt x="180" y="12"/>
                    <a:pt x="180" y="12"/>
                    <a:pt x="180" y="12"/>
                  </a:cubicBezTo>
                  <a:cubicBezTo>
                    <a:pt x="144" y="12"/>
                    <a:pt x="144" y="12"/>
                    <a:pt x="144" y="12"/>
                  </a:cubicBezTo>
                  <a:cubicBezTo>
                    <a:pt x="141" y="12"/>
                    <a:pt x="138" y="10"/>
                    <a:pt x="138" y="6"/>
                  </a:cubicBezTo>
                  <a:cubicBezTo>
                    <a:pt x="138" y="3"/>
                    <a:pt x="141" y="0"/>
                    <a:pt x="144" y="0"/>
                  </a:cubicBezTo>
                  <a:cubicBezTo>
                    <a:pt x="186" y="0"/>
                    <a:pt x="186" y="0"/>
                    <a:pt x="186" y="0"/>
                  </a:cubicBezTo>
                  <a:cubicBezTo>
                    <a:pt x="189" y="0"/>
                    <a:pt x="192" y="3"/>
                    <a:pt x="192" y="6"/>
                  </a:cubicBezTo>
                  <a:cubicBezTo>
                    <a:pt x="192" y="150"/>
                    <a:pt x="192" y="150"/>
                    <a:pt x="192" y="150"/>
                  </a:cubicBezTo>
                  <a:cubicBezTo>
                    <a:pt x="192" y="152"/>
                    <a:pt x="192" y="153"/>
                    <a:pt x="191" y="154"/>
                  </a:cubicBezTo>
                  <a:cubicBezTo>
                    <a:pt x="149" y="202"/>
                    <a:pt x="149" y="202"/>
                    <a:pt x="149" y="202"/>
                  </a:cubicBezTo>
                  <a:cubicBezTo>
                    <a:pt x="147" y="204"/>
                    <a:pt x="146" y="204"/>
                    <a:pt x="144" y="204"/>
                  </a:cubicBezTo>
                  <a:close/>
                </a:path>
              </a:pathLst>
            </a:custGeom>
            <a:gradFill>
              <a:gsLst>
                <a:gs pos="0">
                  <a:srgbClr val="4B0372"/>
                </a:gs>
                <a:gs pos="100000">
                  <a:srgbClr val="BE59D8"/>
                </a:gs>
              </a:gsLst>
              <a:lin ang="0" scaled="1"/>
            </a:gradFill>
            <a:ln w="1027" cap="flat">
              <a:noFill/>
              <a:prstDash val="solid"/>
              <a:miter/>
            </a:ln>
          </p:spPr>
          <p:txBody>
            <a:bodyPr/>
            <a:lstStyle/>
            <a:p>
              <a:endParaRPr>
                <a:sym typeface="Inter"/>
              </a:endParaRPr>
            </a:p>
          </p:txBody>
        </p:sp>
        <p:sp>
          <p:nvSpPr>
            <p:cNvPr id="72" name="Google Shape;2314;p78">
              <a:extLst>
                <a:ext uri="{FF2B5EF4-FFF2-40B4-BE49-F238E27FC236}">
                  <a16:creationId xmlns:a16="http://schemas.microsoft.com/office/drawing/2014/main" id="{7C733421-BEAA-79AA-C4A1-9312C1A8066C}"/>
                </a:ext>
              </a:extLst>
            </p:cNvPr>
            <p:cNvSpPr/>
            <p:nvPr/>
          </p:nvSpPr>
          <p:spPr>
            <a:xfrm>
              <a:off x="602856" y="3281282"/>
              <a:ext cx="152804" cy="125652"/>
            </a:xfrm>
            <a:custGeom>
              <a:avLst/>
              <a:gdLst/>
              <a:ahLst/>
              <a:cxnLst/>
              <a:rect l="l" t="t" r="r" b="b"/>
              <a:pathLst>
                <a:path w="99" h="82" extrusionOk="0">
                  <a:moveTo>
                    <a:pt x="37" y="82"/>
                  </a:moveTo>
                  <a:cubicBezTo>
                    <a:pt x="35" y="82"/>
                    <a:pt x="33" y="82"/>
                    <a:pt x="32" y="81"/>
                  </a:cubicBezTo>
                  <a:cubicBezTo>
                    <a:pt x="2" y="51"/>
                    <a:pt x="2" y="51"/>
                    <a:pt x="2" y="51"/>
                  </a:cubicBezTo>
                  <a:cubicBezTo>
                    <a:pt x="0" y="48"/>
                    <a:pt x="0" y="45"/>
                    <a:pt x="2" y="42"/>
                  </a:cubicBezTo>
                  <a:cubicBezTo>
                    <a:pt x="5" y="40"/>
                    <a:pt x="8" y="40"/>
                    <a:pt x="11" y="42"/>
                  </a:cubicBezTo>
                  <a:cubicBezTo>
                    <a:pt x="36" y="67"/>
                    <a:pt x="36" y="67"/>
                    <a:pt x="36" y="67"/>
                  </a:cubicBezTo>
                  <a:cubicBezTo>
                    <a:pt x="87" y="3"/>
                    <a:pt x="87" y="3"/>
                    <a:pt x="87" y="3"/>
                  </a:cubicBezTo>
                  <a:cubicBezTo>
                    <a:pt x="89" y="1"/>
                    <a:pt x="93" y="0"/>
                    <a:pt x="96" y="2"/>
                  </a:cubicBezTo>
                  <a:cubicBezTo>
                    <a:pt x="98" y="4"/>
                    <a:pt x="99" y="8"/>
                    <a:pt x="97" y="11"/>
                  </a:cubicBezTo>
                  <a:cubicBezTo>
                    <a:pt x="41" y="80"/>
                    <a:pt x="41" y="80"/>
                    <a:pt x="41" y="80"/>
                  </a:cubicBezTo>
                  <a:cubicBezTo>
                    <a:pt x="40" y="82"/>
                    <a:pt x="39" y="82"/>
                    <a:pt x="37" y="82"/>
                  </a:cubicBezTo>
                  <a:cubicBezTo>
                    <a:pt x="37" y="82"/>
                    <a:pt x="37" y="82"/>
                    <a:pt x="37" y="82"/>
                  </a:cubicBezTo>
                  <a:close/>
                </a:path>
              </a:pathLst>
            </a:custGeom>
            <a:gradFill>
              <a:gsLst>
                <a:gs pos="0">
                  <a:srgbClr val="4B0372"/>
                </a:gs>
                <a:gs pos="100000">
                  <a:srgbClr val="BE59D8"/>
                </a:gs>
              </a:gsLst>
              <a:lin ang="0" scaled="1"/>
            </a:gradFill>
            <a:ln w="1027" cap="flat">
              <a:noFill/>
              <a:prstDash val="solid"/>
              <a:miter/>
            </a:ln>
          </p:spPr>
          <p:txBody>
            <a:bodyPr/>
            <a:lstStyle/>
            <a:p>
              <a:endParaRPr>
                <a:sym typeface="Inter"/>
              </a:endParaRPr>
            </a:p>
          </p:txBody>
        </p:sp>
        <p:sp>
          <p:nvSpPr>
            <p:cNvPr id="73" name="Google Shape;2315;p78">
              <a:extLst>
                <a:ext uri="{FF2B5EF4-FFF2-40B4-BE49-F238E27FC236}">
                  <a16:creationId xmlns:a16="http://schemas.microsoft.com/office/drawing/2014/main" id="{1430A8C9-BAF9-09FD-6A0B-57BA07645B6B}"/>
                </a:ext>
              </a:extLst>
            </p:cNvPr>
            <p:cNvSpPr/>
            <p:nvPr/>
          </p:nvSpPr>
          <p:spPr>
            <a:xfrm>
              <a:off x="745265" y="3406934"/>
              <a:ext cx="83159" cy="101767"/>
            </a:xfrm>
            <a:custGeom>
              <a:avLst/>
              <a:gdLst/>
              <a:ahLst/>
              <a:cxnLst/>
              <a:rect l="l" t="t" r="r" b="b"/>
              <a:pathLst>
                <a:path w="54" h="66" extrusionOk="0">
                  <a:moveTo>
                    <a:pt x="6" y="66"/>
                  </a:moveTo>
                  <a:cubicBezTo>
                    <a:pt x="3" y="66"/>
                    <a:pt x="0" y="64"/>
                    <a:pt x="0" y="60"/>
                  </a:cubicBezTo>
                  <a:cubicBezTo>
                    <a:pt x="0" y="6"/>
                    <a:pt x="0" y="6"/>
                    <a:pt x="0" y="6"/>
                  </a:cubicBezTo>
                  <a:cubicBezTo>
                    <a:pt x="0" y="3"/>
                    <a:pt x="3" y="0"/>
                    <a:pt x="6" y="0"/>
                  </a:cubicBezTo>
                  <a:cubicBezTo>
                    <a:pt x="48" y="0"/>
                    <a:pt x="48" y="0"/>
                    <a:pt x="48" y="0"/>
                  </a:cubicBezTo>
                  <a:cubicBezTo>
                    <a:pt x="51" y="0"/>
                    <a:pt x="54" y="3"/>
                    <a:pt x="54" y="6"/>
                  </a:cubicBezTo>
                  <a:cubicBezTo>
                    <a:pt x="54" y="10"/>
                    <a:pt x="51" y="12"/>
                    <a:pt x="48" y="12"/>
                  </a:cubicBezTo>
                  <a:cubicBezTo>
                    <a:pt x="12" y="12"/>
                    <a:pt x="12" y="12"/>
                    <a:pt x="12" y="12"/>
                  </a:cubicBezTo>
                  <a:cubicBezTo>
                    <a:pt x="12" y="60"/>
                    <a:pt x="12" y="60"/>
                    <a:pt x="12" y="60"/>
                  </a:cubicBezTo>
                  <a:cubicBezTo>
                    <a:pt x="12" y="64"/>
                    <a:pt x="9" y="66"/>
                    <a:pt x="6" y="66"/>
                  </a:cubicBezTo>
                  <a:close/>
                </a:path>
              </a:pathLst>
            </a:custGeom>
            <a:gradFill>
              <a:gsLst>
                <a:gs pos="0">
                  <a:srgbClr val="4B0372"/>
                </a:gs>
                <a:gs pos="100000">
                  <a:srgbClr val="BE59D8"/>
                </a:gs>
              </a:gsLst>
              <a:lin ang="0" scaled="1"/>
            </a:gradFill>
            <a:ln w="1027" cap="flat">
              <a:noFill/>
              <a:prstDash val="solid"/>
              <a:miter/>
            </a:ln>
          </p:spPr>
          <p:txBody>
            <a:bodyPr/>
            <a:lstStyle/>
            <a:p>
              <a:endParaRPr>
                <a:sym typeface="Inter"/>
              </a:endParaRPr>
            </a:p>
          </p:txBody>
        </p:sp>
      </p:grpSp>
      <p:grpSp>
        <p:nvGrpSpPr>
          <p:cNvPr id="74" name="Group 73">
            <a:extLst>
              <a:ext uri="{FF2B5EF4-FFF2-40B4-BE49-F238E27FC236}">
                <a16:creationId xmlns:a16="http://schemas.microsoft.com/office/drawing/2014/main" id="{19B642B6-5CF2-4809-FCF5-B178B07AC1A2}"/>
              </a:ext>
            </a:extLst>
          </p:cNvPr>
          <p:cNvGrpSpPr/>
          <p:nvPr/>
        </p:nvGrpSpPr>
        <p:grpSpPr>
          <a:xfrm>
            <a:off x="613786" y="4735221"/>
            <a:ext cx="428311" cy="427573"/>
            <a:chOff x="2816387" y="3102670"/>
            <a:chExt cx="428311" cy="427573"/>
          </a:xfrm>
        </p:grpSpPr>
        <p:sp>
          <p:nvSpPr>
            <p:cNvPr id="76" name="Google Shape;2306;p78">
              <a:extLst>
                <a:ext uri="{FF2B5EF4-FFF2-40B4-BE49-F238E27FC236}">
                  <a16:creationId xmlns:a16="http://schemas.microsoft.com/office/drawing/2014/main" id="{39AEF1C1-C758-7959-6FFC-1FEE6CF7AB46}"/>
                </a:ext>
              </a:extLst>
            </p:cNvPr>
            <p:cNvSpPr/>
            <p:nvPr/>
          </p:nvSpPr>
          <p:spPr>
            <a:xfrm>
              <a:off x="3011612" y="3102670"/>
              <a:ext cx="233086" cy="233329"/>
            </a:xfrm>
            <a:custGeom>
              <a:avLst/>
              <a:gdLst/>
              <a:ahLst/>
              <a:cxnLst/>
              <a:rect l="l" t="t" r="r" b="b"/>
              <a:pathLst>
                <a:path w="133" h="133" extrusionOk="0">
                  <a:moveTo>
                    <a:pt x="11" y="111"/>
                  </a:moveTo>
                  <a:cubicBezTo>
                    <a:pt x="5" y="111"/>
                    <a:pt x="0" y="116"/>
                    <a:pt x="0" y="122"/>
                  </a:cubicBezTo>
                  <a:cubicBezTo>
                    <a:pt x="0" y="128"/>
                    <a:pt x="5" y="133"/>
                    <a:pt x="11" y="133"/>
                  </a:cubicBezTo>
                  <a:cubicBezTo>
                    <a:pt x="17" y="133"/>
                    <a:pt x="22" y="128"/>
                    <a:pt x="22" y="122"/>
                  </a:cubicBezTo>
                  <a:cubicBezTo>
                    <a:pt x="22" y="122"/>
                    <a:pt x="22" y="121"/>
                    <a:pt x="21" y="120"/>
                  </a:cubicBezTo>
                  <a:cubicBezTo>
                    <a:pt x="73" y="68"/>
                    <a:pt x="73" y="68"/>
                    <a:pt x="73" y="68"/>
                  </a:cubicBezTo>
                  <a:cubicBezTo>
                    <a:pt x="99" y="68"/>
                    <a:pt x="99" y="68"/>
                    <a:pt x="99" y="68"/>
                  </a:cubicBezTo>
                  <a:cubicBezTo>
                    <a:pt x="100" y="68"/>
                    <a:pt x="102" y="68"/>
                    <a:pt x="103" y="67"/>
                  </a:cubicBezTo>
                  <a:cubicBezTo>
                    <a:pt x="131" y="39"/>
                    <a:pt x="131" y="39"/>
                    <a:pt x="131" y="39"/>
                  </a:cubicBezTo>
                  <a:cubicBezTo>
                    <a:pt x="133" y="37"/>
                    <a:pt x="133" y="34"/>
                    <a:pt x="132" y="32"/>
                  </a:cubicBezTo>
                  <a:cubicBezTo>
                    <a:pt x="131" y="30"/>
                    <a:pt x="129" y="28"/>
                    <a:pt x="126" y="28"/>
                  </a:cubicBezTo>
                  <a:cubicBezTo>
                    <a:pt x="105" y="28"/>
                    <a:pt x="105" y="28"/>
                    <a:pt x="105" y="28"/>
                  </a:cubicBezTo>
                  <a:cubicBezTo>
                    <a:pt x="105" y="7"/>
                    <a:pt x="105" y="7"/>
                    <a:pt x="105" y="7"/>
                  </a:cubicBezTo>
                  <a:cubicBezTo>
                    <a:pt x="105" y="4"/>
                    <a:pt x="103" y="2"/>
                    <a:pt x="101" y="1"/>
                  </a:cubicBezTo>
                  <a:cubicBezTo>
                    <a:pt x="99" y="0"/>
                    <a:pt x="96" y="0"/>
                    <a:pt x="94" y="2"/>
                  </a:cubicBezTo>
                  <a:cubicBezTo>
                    <a:pt x="66" y="30"/>
                    <a:pt x="66" y="30"/>
                    <a:pt x="66" y="30"/>
                  </a:cubicBezTo>
                  <a:cubicBezTo>
                    <a:pt x="65" y="31"/>
                    <a:pt x="64" y="33"/>
                    <a:pt x="64" y="34"/>
                  </a:cubicBezTo>
                  <a:cubicBezTo>
                    <a:pt x="64" y="59"/>
                    <a:pt x="64" y="59"/>
                    <a:pt x="64" y="59"/>
                  </a:cubicBezTo>
                  <a:cubicBezTo>
                    <a:pt x="12" y="111"/>
                    <a:pt x="12" y="111"/>
                    <a:pt x="12" y="111"/>
                  </a:cubicBezTo>
                  <a:cubicBezTo>
                    <a:pt x="12" y="111"/>
                    <a:pt x="11" y="111"/>
                    <a:pt x="11" y="111"/>
                  </a:cubicBezTo>
                  <a:close/>
                  <a:moveTo>
                    <a:pt x="94" y="39"/>
                  </a:moveTo>
                  <a:cubicBezTo>
                    <a:pt x="95" y="40"/>
                    <a:pt x="97" y="41"/>
                    <a:pt x="99" y="41"/>
                  </a:cubicBezTo>
                  <a:cubicBezTo>
                    <a:pt x="111" y="41"/>
                    <a:pt x="111" y="41"/>
                    <a:pt x="111" y="41"/>
                  </a:cubicBezTo>
                  <a:cubicBezTo>
                    <a:pt x="96" y="56"/>
                    <a:pt x="96" y="56"/>
                    <a:pt x="96" y="56"/>
                  </a:cubicBezTo>
                  <a:cubicBezTo>
                    <a:pt x="77" y="56"/>
                    <a:pt x="77" y="56"/>
                    <a:pt x="77" y="56"/>
                  </a:cubicBezTo>
                  <a:cubicBezTo>
                    <a:pt x="77" y="37"/>
                    <a:pt x="77" y="37"/>
                    <a:pt x="77" y="37"/>
                  </a:cubicBezTo>
                  <a:cubicBezTo>
                    <a:pt x="92" y="22"/>
                    <a:pt x="92" y="22"/>
                    <a:pt x="92" y="22"/>
                  </a:cubicBezTo>
                  <a:cubicBezTo>
                    <a:pt x="92" y="34"/>
                    <a:pt x="92" y="34"/>
                    <a:pt x="92" y="34"/>
                  </a:cubicBezTo>
                  <a:cubicBezTo>
                    <a:pt x="92" y="36"/>
                    <a:pt x="93" y="38"/>
                    <a:pt x="94" y="39"/>
                  </a:cubicBezTo>
                  <a:close/>
                </a:path>
              </a:pathLst>
            </a:custGeom>
            <a:gradFill>
              <a:gsLst>
                <a:gs pos="0">
                  <a:srgbClr val="4B0372"/>
                </a:gs>
                <a:gs pos="100000">
                  <a:srgbClr val="BE59D8"/>
                </a:gs>
              </a:gsLst>
              <a:lin ang="0" scaled="1"/>
            </a:gradFill>
            <a:ln w="1027" cap="flat">
              <a:noFill/>
              <a:prstDash val="solid"/>
              <a:miter/>
            </a:ln>
          </p:spPr>
          <p:txBody>
            <a:bodyPr/>
            <a:lstStyle/>
            <a:p>
              <a:endParaRPr>
                <a:sym typeface="Inter"/>
              </a:endParaRPr>
            </a:p>
          </p:txBody>
        </p:sp>
        <p:sp>
          <p:nvSpPr>
            <p:cNvPr id="78" name="Google Shape;2307;p78">
              <a:extLst>
                <a:ext uri="{FF2B5EF4-FFF2-40B4-BE49-F238E27FC236}">
                  <a16:creationId xmlns:a16="http://schemas.microsoft.com/office/drawing/2014/main" id="{08ABE659-33CF-3CAB-A89B-C8ACBD3F1F5D}"/>
                </a:ext>
              </a:extLst>
            </p:cNvPr>
            <p:cNvSpPr/>
            <p:nvPr/>
          </p:nvSpPr>
          <p:spPr>
            <a:xfrm>
              <a:off x="2881462" y="3167813"/>
              <a:ext cx="298161" cy="297288"/>
            </a:xfrm>
            <a:custGeom>
              <a:avLst/>
              <a:gdLst/>
              <a:ahLst/>
              <a:cxnLst/>
              <a:rect l="l" t="t" r="r" b="b"/>
              <a:pathLst>
                <a:path w="170" h="170" extrusionOk="0">
                  <a:moveTo>
                    <a:pt x="123" y="16"/>
                  </a:moveTo>
                  <a:cubicBezTo>
                    <a:pt x="124" y="13"/>
                    <a:pt x="123" y="9"/>
                    <a:pt x="120" y="8"/>
                  </a:cubicBezTo>
                  <a:cubicBezTo>
                    <a:pt x="119" y="8"/>
                    <a:pt x="119" y="8"/>
                    <a:pt x="119" y="8"/>
                  </a:cubicBezTo>
                  <a:cubicBezTo>
                    <a:pt x="108" y="3"/>
                    <a:pt x="97" y="0"/>
                    <a:pt x="85" y="0"/>
                  </a:cubicBezTo>
                  <a:cubicBezTo>
                    <a:pt x="38" y="0"/>
                    <a:pt x="0" y="38"/>
                    <a:pt x="0" y="85"/>
                  </a:cubicBezTo>
                  <a:cubicBezTo>
                    <a:pt x="0" y="132"/>
                    <a:pt x="38" y="170"/>
                    <a:pt x="85" y="170"/>
                  </a:cubicBezTo>
                  <a:cubicBezTo>
                    <a:pt x="131" y="170"/>
                    <a:pt x="170" y="132"/>
                    <a:pt x="170" y="85"/>
                  </a:cubicBezTo>
                  <a:cubicBezTo>
                    <a:pt x="170" y="73"/>
                    <a:pt x="167" y="61"/>
                    <a:pt x="162" y="50"/>
                  </a:cubicBezTo>
                  <a:cubicBezTo>
                    <a:pt x="161" y="49"/>
                    <a:pt x="160" y="48"/>
                    <a:pt x="158" y="47"/>
                  </a:cubicBezTo>
                  <a:cubicBezTo>
                    <a:pt x="157" y="46"/>
                    <a:pt x="155" y="46"/>
                    <a:pt x="154" y="47"/>
                  </a:cubicBezTo>
                  <a:cubicBezTo>
                    <a:pt x="152" y="48"/>
                    <a:pt x="151" y="49"/>
                    <a:pt x="150" y="51"/>
                  </a:cubicBezTo>
                  <a:cubicBezTo>
                    <a:pt x="150" y="52"/>
                    <a:pt x="150" y="54"/>
                    <a:pt x="151" y="55"/>
                  </a:cubicBezTo>
                  <a:cubicBezTo>
                    <a:pt x="155" y="65"/>
                    <a:pt x="157" y="75"/>
                    <a:pt x="157" y="85"/>
                  </a:cubicBezTo>
                  <a:cubicBezTo>
                    <a:pt x="157" y="125"/>
                    <a:pt x="124" y="158"/>
                    <a:pt x="85" y="158"/>
                  </a:cubicBezTo>
                  <a:cubicBezTo>
                    <a:pt x="45" y="158"/>
                    <a:pt x="12" y="125"/>
                    <a:pt x="12" y="85"/>
                  </a:cubicBezTo>
                  <a:cubicBezTo>
                    <a:pt x="12" y="45"/>
                    <a:pt x="45" y="13"/>
                    <a:pt x="85" y="13"/>
                  </a:cubicBezTo>
                  <a:cubicBezTo>
                    <a:pt x="95" y="13"/>
                    <a:pt x="105" y="15"/>
                    <a:pt x="114" y="19"/>
                  </a:cubicBezTo>
                  <a:cubicBezTo>
                    <a:pt x="118" y="21"/>
                    <a:pt x="121" y="19"/>
                    <a:pt x="123" y="16"/>
                  </a:cubicBezTo>
                  <a:close/>
                </a:path>
              </a:pathLst>
            </a:custGeom>
            <a:gradFill>
              <a:gsLst>
                <a:gs pos="0">
                  <a:srgbClr val="4B0372"/>
                </a:gs>
                <a:gs pos="100000">
                  <a:srgbClr val="BE59D8"/>
                </a:gs>
              </a:gsLst>
              <a:lin ang="0" scaled="1"/>
            </a:gradFill>
            <a:ln w="1027" cap="flat">
              <a:noFill/>
              <a:prstDash val="solid"/>
              <a:miter/>
            </a:ln>
          </p:spPr>
          <p:txBody>
            <a:bodyPr/>
            <a:lstStyle/>
            <a:p>
              <a:endParaRPr>
                <a:sym typeface="Inter"/>
              </a:endParaRPr>
            </a:p>
          </p:txBody>
        </p:sp>
        <p:sp>
          <p:nvSpPr>
            <p:cNvPr id="79" name="Google Shape;2308;p78">
              <a:extLst>
                <a:ext uri="{FF2B5EF4-FFF2-40B4-BE49-F238E27FC236}">
                  <a16:creationId xmlns:a16="http://schemas.microsoft.com/office/drawing/2014/main" id="{A64887B7-307A-3E6A-24ED-E09254B8E81F}"/>
                </a:ext>
              </a:extLst>
            </p:cNvPr>
            <p:cNvSpPr/>
            <p:nvPr/>
          </p:nvSpPr>
          <p:spPr>
            <a:xfrm>
              <a:off x="2946537" y="3232955"/>
              <a:ext cx="168011" cy="167002"/>
            </a:xfrm>
            <a:custGeom>
              <a:avLst/>
              <a:gdLst/>
              <a:ahLst/>
              <a:cxnLst/>
              <a:rect l="l" t="t" r="r" b="b"/>
              <a:pathLst>
                <a:path w="96" h="96" extrusionOk="0">
                  <a:moveTo>
                    <a:pt x="48" y="13"/>
                  </a:moveTo>
                  <a:cubicBezTo>
                    <a:pt x="50" y="13"/>
                    <a:pt x="53" y="13"/>
                    <a:pt x="55" y="14"/>
                  </a:cubicBezTo>
                  <a:cubicBezTo>
                    <a:pt x="59" y="15"/>
                    <a:pt x="62" y="12"/>
                    <a:pt x="63" y="9"/>
                  </a:cubicBezTo>
                  <a:cubicBezTo>
                    <a:pt x="64" y="6"/>
                    <a:pt x="62" y="2"/>
                    <a:pt x="58" y="2"/>
                  </a:cubicBezTo>
                  <a:cubicBezTo>
                    <a:pt x="55" y="1"/>
                    <a:pt x="51" y="0"/>
                    <a:pt x="48" y="0"/>
                  </a:cubicBezTo>
                  <a:cubicBezTo>
                    <a:pt x="21" y="0"/>
                    <a:pt x="0" y="22"/>
                    <a:pt x="0" y="48"/>
                  </a:cubicBezTo>
                  <a:cubicBezTo>
                    <a:pt x="0" y="75"/>
                    <a:pt x="21" y="96"/>
                    <a:pt x="48" y="96"/>
                  </a:cubicBezTo>
                  <a:cubicBezTo>
                    <a:pt x="74" y="96"/>
                    <a:pt x="96" y="75"/>
                    <a:pt x="96" y="48"/>
                  </a:cubicBezTo>
                  <a:cubicBezTo>
                    <a:pt x="96" y="45"/>
                    <a:pt x="95" y="41"/>
                    <a:pt x="94" y="38"/>
                  </a:cubicBezTo>
                  <a:cubicBezTo>
                    <a:pt x="94" y="36"/>
                    <a:pt x="93" y="35"/>
                    <a:pt x="92" y="34"/>
                  </a:cubicBezTo>
                  <a:cubicBezTo>
                    <a:pt x="90" y="33"/>
                    <a:pt x="88" y="32"/>
                    <a:pt x="87" y="33"/>
                  </a:cubicBezTo>
                  <a:cubicBezTo>
                    <a:pt x="85" y="33"/>
                    <a:pt x="84" y="34"/>
                    <a:pt x="83" y="36"/>
                  </a:cubicBezTo>
                  <a:cubicBezTo>
                    <a:pt x="82" y="37"/>
                    <a:pt x="82" y="39"/>
                    <a:pt x="82" y="40"/>
                  </a:cubicBezTo>
                  <a:cubicBezTo>
                    <a:pt x="83" y="43"/>
                    <a:pt x="83" y="46"/>
                    <a:pt x="83" y="48"/>
                  </a:cubicBezTo>
                  <a:cubicBezTo>
                    <a:pt x="83" y="68"/>
                    <a:pt x="67" y="84"/>
                    <a:pt x="48" y="84"/>
                  </a:cubicBezTo>
                  <a:cubicBezTo>
                    <a:pt x="28" y="84"/>
                    <a:pt x="12" y="68"/>
                    <a:pt x="12" y="48"/>
                  </a:cubicBezTo>
                  <a:cubicBezTo>
                    <a:pt x="12" y="29"/>
                    <a:pt x="28" y="13"/>
                    <a:pt x="48" y="13"/>
                  </a:cubicBezTo>
                  <a:close/>
                </a:path>
              </a:pathLst>
            </a:custGeom>
            <a:gradFill>
              <a:gsLst>
                <a:gs pos="0">
                  <a:srgbClr val="4B0372"/>
                </a:gs>
                <a:gs pos="100000">
                  <a:srgbClr val="BE59D8"/>
                </a:gs>
              </a:gsLst>
              <a:lin ang="0" scaled="1"/>
            </a:gradFill>
            <a:ln w="1027" cap="flat">
              <a:noFill/>
              <a:prstDash val="solid"/>
              <a:miter/>
            </a:ln>
          </p:spPr>
          <p:txBody>
            <a:bodyPr/>
            <a:lstStyle/>
            <a:p>
              <a:endParaRPr>
                <a:sym typeface="Inter"/>
              </a:endParaRPr>
            </a:p>
          </p:txBody>
        </p:sp>
        <p:sp>
          <p:nvSpPr>
            <p:cNvPr id="80" name="Google Shape;2309;p78">
              <a:extLst>
                <a:ext uri="{FF2B5EF4-FFF2-40B4-BE49-F238E27FC236}">
                  <a16:creationId xmlns:a16="http://schemas.microsoft.com/office/drawing/2014/main" id="{F7B164EE-3F2A-D543-7AC1-38BDF0975C6F}"/>
                </a:ext>
              </a:extLst>
            </p:cNvPr>
            <p:cNvSpPr/>
            <p:nvPr/>
          </p:nvSpPr>
          <p:spPr>
            <a:xfrm>
              <a:off x="2816387" y="3102670"/>
              <a:ext cx="428311" cy="427573"/>
            </a:xfrm>
            <a:custGeom>
              <a:avLst/>
              <a:gdLst/>
              <a:ahLst/>
              <a:cxnLst/>
              <a:rect l="l" t="t" r="r" b="b"/>
              <a:pathLst>
                <a:path w="244" h="244" extrusionOk="0">
                  <a:moveTo>
                    <a:pt x="234" y="74"/>
                  </a:moveTo>
                  <a:cubicBezTo>
                    <a:pt x="233" y="72"/>
                    <a:pt x="232" y="71"/>
                    <a:pt x="230" y="70"/>
                  </a:cubicBezTo>
                  <a:cubicBezTo>
                    <a:pt x="229" y="70"/>
                    <a:pt x="227" y="70"/>
                    <a:pt x="225" y="70"/>
                  </a:cubicBezTo>
                  <a:cubicBezTo>
                    <a:pt x="222" y="72"/>
                    <a:pt x="221" y="76"/>
                    <a:pt x="222" y="79"/>
                  </a:cubicBezTo>
                  <a:cubicBezTo>
                    <a:pt x="228" y="93"/>
                    <a:pt x="231" y="107"/>
                    <a:pt x="231" y="122"/>
                  </a:cubicBezTo>
                  <a:cubicBezTo>
                    <a:pt x="231" y="182"/>
                    <a:pt x="182" y="232"/>
                    <a:pt x="122" y="232"/>
                  </a:cubicBezTo>
                  <a:cubicBezTo>
                    <a:pt x="61" y="232"/>
                    <a:pt x="12" y="182"/>
                    <a:pt x="12" y="122"/>
                  </a:cubicBezTo>
                  <a:cubicBezTo>
                    <a:pt x="12" y="62"/>
                    <a:pt x="61" y="13"/>
                    <a:pt x="122" y="13"/>
                  </a:cubicBezTo>
                  <a:cubicBezTo>
                    <a:pt x="137" y="13"/>
                    <a:pt x="151" y="16"/>
                    <a:pt x="165" y="22"/>
                  </a:cubicBezTo>
                  <a:cubicBezTo>
                    <a:pt x="167" y="23"/>
                    <a:pt x="168" y="23"/>
                    <a:pt x="170" y="22"/>
                  </a:cubicBezTo>
                  <a:cubicBezTo>
                    <a:pt x="172" y="21"/>
                    <a:pt x="173" y="20"/>
                    <a:pt x="173" y="19"/>
                  </a:cubicBezTo>
                  <a:cubicBezTo>
                    <a:pt x="174" y="17"/>
                    <a:pt x="174" y="15"/>
                    <a:pt x="174" y="14"/>
                  </a:cubicBezTo>
                  <a:cubicBezTo>
                    <a:pt x="173" y="12"/>
                    <a:pt x="172" y="11"/>
                    <a:pt x="170" y="10"/>
                  </a:cubicBezTo>
                  <a:cubicBezTo>
                    <a:pt x="155" y="4"/>
                    <a:pt x="138" y="0"/>
                    <a:pt x="122" y="0"/>
                  </a:cubicBezTo>
                  <a:cubicBezTo>
                    <a:pt x="54" y="0"/>
                    <a:pt x="0" y="55"/>
                    <a:pt x="0" y="122"/>
                  </a:cubicBezTo>
                  <a:cubicBezTo>
                    <a:pt x="0" y="189"/>
                    <a:pt x="54" y="244"/>
                    <a:pt x="122" y="244"/>
                  </a:cubicBezTo>
                  <a:cubicBezTo>
                    <a:pt x="189" y="244"/>
                    <a:pt x="244" y="189"/>
                    <a:pt x="244" y="122"/>
                  </a:cubicBezTo>
                  <a:cubicBezTo>
                    <a:pt x="244" y="105"/>
                    <a:pt x="240" y="89"/>
                    <a:pt x="234" y="74"/>
                  </a:cubicBezTo>
                  <a:close/>
                </a:path>
              </a:pathLst>
            </a:custGeom>
            <a:gradFill>
              <a:gsLst>
                <a:gs pos="0">
                  <a:srgbClr val="4B0372"/>
                </a:gs>
                <a:gs pos="100000">
                  <a:srgbClr val="BE59D8"/>
                </a:gs>
              </a:gsLst>
              <a:lin ang="0" scaled="1"/>
            </a:gradFill>
            <a:ln w="1027" cap="flat">
              <a:noFill/>
              <a:prstDash val="solid"/>
              <a:miter/>
            </a:ln>
          </p:spPr>
          <p:txBody>
            <a:bodyPr/>
            <a:lstStyle/>
            <a:p>
              <a:endParaRPr>
                <a:sym typeface="Inter"/>
              </a:endParaRPr>
            </a:p>
          </p:txBody>
        </p:sp>
      </p:grpSp>
      <p:sp>
        <p:nvSpPr>
          <p:cNvPr id="25" name="TextBox 24">
            <a:extLst>
              <a:ext uri="{FF2B5EF4-FFF2-40B4-BE49-F238E27FC236}">
                <a16:creationId xmlns:a16="http://schemas.microsoft.com/office/drawing/2014/main" id="{3CFEC86C-B63B-8783-5045-F04E811934A9}"/>
              </a:ext>
            </a:extLst>
          </p:cNvPr>
          <p:cNvSpPr txBox="1"/>
          <p:nvPr/>
        </p:nvSpPr>
        <p:spPr>
          <a:xfrm>
            <a:off x="5108750" y="3604770"/>
            <a:ext cx="2925926" cy="152617"/>
          </a:xfrm>
          <a:prstGeom prst="rect">
            <a:avLst/>
          </a:prstGeom>
          <a:noFill/>
        </p:spPr>
        <p:txBody>
          <a:bodyPr wrap="square" lIns="0" tIns="0" rIns="0" bIns="0" rtlCol="0">
            <a:spAutoFit/>
          </a:bodyPr>
          <a:lstStyle/>
          <a:p>
            <a:r>
              <a:rPr lang="en-IN" sz="1000" b="1">
                <a:latin typeface="Graphik Semibold" panose="020B0503030202060203" pitchFamily="34" charset="77"/>
              </a:rPr>
              <a:t>Key results included:</a:t>
            </a:r>
          </a:p>
        </p:txBody>
      </p:sp>
      <p:cxnSp>
        <p:nvCxnSpPr>
          <p:cNvPr id="7" name="Straight Connector 6">
            <a:extLst>
              <a:ext uri="{FF2B5EF4-FFF2-40B4-BE49-F238E27FC236}">
                <a16:creationId xmlns:a16="http://schemas.microsoft.com/office/drawing/2014/main" id="{554DB61F-D4A7-2CB4-09C3-B88EEBAFA80D}"/>
              </a:ext>
            </a:extLst>
          </p:cNvPr>
          <p:cNvCxnSpPr>
            <a:cxnSpLocks/>
          </p:cNvCxnSpPr>
          <p:nvPr/>
        </p:nvCxnSpPr>
        <p:spPr>
          <a:xfrm>
            <a:off x="4909432" y="1993578"/>
            <a:ext cx="0" cy="4445322"/>
          </a:xfrm>
          <a:prstGeom prst="line">
            <a:avLst/>
          </a:prstGeom>
          <a:ln w="12700" cap="rnd">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0E936FCA-CB90-C647-6874-CD41FCBDCD6B}"/>
              </a:ext>
            </a:extLst>
          </p:cNvPr>
          <p:cNvCxnSpPr>
            <a:cxnSpLocks/>
          </p:cNvCxnSpPr>
          <p:nvPr/>
        </p:nvCxnSpPr>
        <p:spPr>
          <a:xfrm>
            <a:off x="609600" y="4639758"/>
            <a:ext cx="4087368" cy="0"/>
          </a:xfrm>
          <a:prstGeom prst="line">
            <a:avLst/>
          </a:prstGeom>
          <a:ln w="12700" cap="rnd">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03EEA0E8-B6D3-CEE4-C866-8320CAFA8520}"/>
              </a:ext>
            </a:extLst>
          </p:cNvPr>
          <p:cNvSpPr txBox="1"/>
          <p:nvPr/>
        </p:nvSpPr>
        <p:spPr>
          <a:xfrm>
            <a:off x="5108598" y="2562335"/>
            <a:ext cx="3342675" cy="969496"/>
          </a:xfrm>
          <a:prstGeom prst="rect">
            <a:avLst/>
          </a:prstGeom>
          <a:noFill/>
        </p:spPr>
        <p:txBody>
          <a:bodyPr wrap="square" lIns="0" tIns="0" rIns="0" bIns="0" rtlCol="0">
            <a:spAutoFit/>
          </a:bodyPr>
          <a:lstStyle/>
          <a:p>
            <a:r>
              <a:rPr lang="en-US" sz="900" dirty="0">
                <a:latin typeface="Graphik" panose="020B0503030202060203" pitchFamily="34" charset="77"/>
              </a:rPr>
              <a:t>The program resulted in zero MES downtime, ensuring uninterrupted production across critical operations. Critical incident volume decreased by ~30%, driven by improved triaging, global standardization, and upgraded PAS‑X templates. Overall MES support productivity increased by ~15% year‑over‑year, reducing both effort and cost through automation and optimized support workflows.</a:t>
            </a:r>
            <a:endParaRPr lang="en-IN" sz="900" dirty="0">
              <a:latin typeface="Graphik" panose="020B0503030202060203" pitchFamily="34" charset="77"/>
            </a:endParaRPr>
          </a:p>
        </p:txBody>
      </p:sp>
      <p:pic>
        <p:nvPicPr>
          <p:cNvPr id="34" name="Graphic 33">
            <a:extLst>
              <a:ext uri="{FF2B5EF4-FFF2-40B4-BE49-F238E27FC236}">
                <a16:creationId xmlns:a16="http://schemas.microsoft.com/office/drawing/2014/main" id="{E5C5F54F-A04F-CA37-6F92-D013EA61150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108427" y="3900236"/>
            <a:ext cx="164592" cy="164592"/>
          </a:xfrm>
          <a:prstGeom prst="rect">
            <a:avLst/>
          </a:prstGeom>
        </p:spPr>
      </p:pic>
      <p:pic>
        <p:nvPicPr>
          <p:cNvPr id="35" name="Graphic 34">
            <a:extLst>
              <a:ext uri="{FF2B5EF4-FFF2-40B4-BE49-F238E27FC236}">
                <a16:creationId xmlns:a16="http://schemas.microsoft.com/office/drawing/2014/main" id="{FB070A96-0765-4C03-7B64-F4AF22702B9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108427" y="4894190"/>
            <a:ext cx="164592" cy="164592"/>
          </a:xfrm>
          <a:prstGeom prst="rect">
            <a:avLst/>
          </a:prstGeom>
        </p:spPr>
      </p:pic>
      <p:pic>
        <p:nvPicPr>
          <p:cNvPr id="36" name="Graphic 35">
            <a:extLst>
              <a:ext uri="{FF2B5EF4-FFF2-40B4-BE49-F238E27FC236}">
                <a16:creationId xmlns:a16="http://schemas.microsoft.com/office/drawing/2014/main" id="{CE818C97-258E-D28D-201B-18D7B260D5B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108427" y="5883384"/>
            <a:ext cx="164592" cy="164592"/>
          </a:xfrm>
          <a:prstGeom prst="rect">
            <a:avLst/>
          </a:prstGeom>
        </p:spPr>
      </p:pic>
      <p:grpSp>
        <p:nvGrpSpPr>
          <p:cNvPr id="55" name="Group 54">
            <a:extLst>
              <a:ext uri="{FF2B5EF4-FFF2-40B4-BE49-F238E27FC236}">
                <a16:creationId xmlns:a16="http://schemas.microsoft.com/office/drawing/2014/main" id="{AA940044-B309-C7DC-6F9A-B4A7414DB3E9}"/>
              </a:ext>
            </a:extLst>
          </p:cNvPr>
          <p:cNvGrpSpPr/>
          <p:nvPr/>
        </p:nvGrpSpPr>
        <p:grpSpPr>
          <a:xfrm>
            <a:off x="5108962" y="1442595"/>
            <a:ext cx="448056" cy="448057"/>
            <a:chOff x="-2127910" y="1858934"/>
            <a:chExt cx="1808997" cy="1808981"/>
          </a:xfrm>
          <a:gradFill>
            <a:gsLst>
              <a:gs pos="0">
                <a:srgbClr val="4B0372"/>
              </a:gs>
              <a:gs pos="100000">
                <a:srgbClr val="BE59D8"/>
              </a:gs>
            </a:gsLst>
            <a:lin ang="0" scaled="1"/>
          </a:gradFill>
        </p:grpSpPr>
        <p:sp>
          <p:nvSpPr>
            <p:cNvPr id="41" name="Freeform 40">
              <a:extLst>
                <a:ext uri="{FF2B5EF4-FFF2-40B4-BE49-F238E27FC236}">
                  <a16:creationId xmlns:a16="http://schemas.microsoft.com/office/drawing/2014/main" id="{73C95BD3-D9B2-B7BB-3CA3-327361CF69B7}"/>
                </a:ext>
              </a:extLst>
            </p:cNvPr>
            <p:cNvSpPr/>
            <p:nvPr/>
          </p:nvSpPr>
          <p:spPr>
            <a:xfrm>
              <a:off x="-1628884" y="1858934"/>
              <a:ext cx="810907" cy="293409"/>
            </a:xfrm>
            <a:custGeom>
              <a:avLst/>
              <a:gdLst>
                <a:gd name="csX0" fmla="*/ 562071 w 810907"/>
                <a:gd name="csY0" fmla="*/ 30656 h 293409"/>
                <a:gd name="csX1" fmla="*/ 536121 w 810907"/>
                <a:gd name="csY1" fmla="*/ 8452 h 293409"/>
                <a:gd name="csX2" fmla="*/ 274795 w 810907"/>
                <a:gd name="csY2" fmla="*/ 8452 h 293409"/>
                <a:gd name="csX3" fmla="*/ 248815 w 810907"/>
                <a:gd name="csY3" fmla="*/ 30656 h 293409"/>
                <a:gd name="csX4" fmla="*/ 212387 w 810907"/>
                <a:gd name="csY4" fmla="*/ 155227 h 293409"/>
                <a:gd name="csX5" fmla="*/ 80567 w 810907"/>
                <a:gd name="csY5" fmla="*/ 202040 h 293409"/>
                <a:gd name="csX6" fmla="*/ 15936 w 810907"/>
                <a:gd name="csY6" fmla="*/ 234995 h 293409"/>
                <a:gd name="csX7" fmla="*/ 3997 w 810907"/>
                <a:gd name="csY7" fmla="*/ 277453 h 293409"/>
                <a:gd name="csX8" fmla="*/ 46454 w 810907"/>
                <a:gd name="csY8" fmla="*/ 289393 h 293409"/>
                <a:gd name="csX9" fmla="*/ 106578 w 810907"/>
                <a:gd name="csY9" fmla="*/ 258752 h 293409"/>
                <a:gd name="csX10" fmla="*/ 244002 w 810907"/>
                <a:gd name="csY10" fmla="*/ 211848 h 293409"/>
                <a:gd name="csX11" fmla="*/ 267181 w 810907"/>
                <a:gd name="csY11" fmla="*/ 190131 h 293409"/>
                <a:gd name="csX12" fmla="*/ 302907 w 810907"/>
                <a:gd name="csY12" fmla="*/ 67936 h 293409"/>
                <a:gd name="csX13" fmla="*/ 508039 w 810907"/>
                <a:gd name="csY13" fmla="*/ 67936 h 293409"/>
                <a:gd name="csX14" fmla="*/ 543735 w 810907"/>
                <a:gd name="csY14" fmla="*/ 190131 h 293409"/>
                <a:gd name="csX15" fmla="*/ 566883 w 810907"/>
                <a:gd name="csY15" fmla="*/ 211848 h 293409"/>
                <a:gd name="csX16" fmla="*/ 764431 w 810907"/>
                <a:gd name="csY16" fmla="*/ 289393 h 293409"/>
                <a:gd name="csX17" fmla="*/ 779721 w 810907"/>
                <a:gd name="csY17" fmla="*/ 293383 h 293409"/>
                <a:gd name="csX18" fmla="*/ 806889 w 810907"/>
                <a:gd name="csY18" fmla="*/ 277453 h 293409"/>
                <a:gd name="csX19" fmla="*/ 795010 w 810907"/>
                <a:gd name="csY19" fmla="*/ 234995 h 293409"/>
                <a:gd name="csX20" fmla="*/ 598498 w 810907"/>
                <a:gd name="csY20" fmla="*/ 155227 h 293409"/>
                <a:gd name="csX21" fmla="*/ 562071 w 810907"/>
                <a:gd name="csY21" fmla="*/ 30656 h 29340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810907" h="293409">
                  <a:moveTo>
                    <a:pt x="562071" y="30656"/>
                  </a:moveTo>
                  <a:cubicBezTo>
                    <a:pt x="558599" y="18747"/>
                    <a:pt x="548426" y="10036"/>
                    <a:pt x="536121" y="8452"/>
                  </a:cubicBezTo>
                  <a:cubicBezTo>
                    <a:pt x="448159" y="-2817"/>
                    <a:pt x="362695" y="-2817"/>
                    <a:pt x="274795" y="8452"/>
                  </a:cubicBezTo>
                  <a:cubicBezTo>
                    <a:pt x="262490" y="10036"/>
                    <a:pt x="252287" y="18747"/>
                    <a:pt x="248815" y="30656"/>
                  </a:cubicBezTo>
                  <a:lnTo>
                    <a:pt x="212387" y="155227"/>
                  </a:lnTo>
                  <a:cubicBezTo>
                    <a:pt x="168772" y="166192"/>
                    <a:pt x="124517" y="181908"/>
                    <a:pt x="80567" y="202040"/>
                  </a:cubicBezTo>
                  <a:cubicBezTo>
                    <a:pt x="58577" y="212152"/>
                    <a:pt x="36982" y="223178"/>
                    <a:pt x="15936" y="234995"/>
                  </a:cubicBezTo>
                  <a:cubicBezTo>
                    <a:pt x="920" y="243402"/>
                    <a:pt x="-4440" y="262438"/>
                    <a:pt x="3997" y="277453"/>
                  </a:cubicBezTo>
                  <a:cubicBezTo>
                    <a:pt x="12433" y="292438"/>
                    <a:pt x="31347" y="297890"/>
                    <a:pt x="46454" y="289393"/>
                  </a:cubicBezTo>
                  <a:cubicBezTo>
                    <a:pt x="66039" y="278428"/>
                    <a:pt x="86110" y="268133"/>
                    <a:pt x="106578" y="258752"/>
                  </a:cubicBezTo>
                  <a:cubicBezTo>
                    <a:pt x="152630" y="237645"/>
                    <a:pt x="198864" y="221868"/>
                    <a:pt x="244002" y="211848"/>
                  </a:cubicBezTo>
                  <a:cubicBezTo>
                    <a:pt x="255119" y="209381"/>
                    <a:pt x="263982" y="201066"/>
                    <a:pt x="267181" y="190131"/>
                  </a:cubicBezTo>
                  <a:lnTo>
                    <a:pt x="302907" y="67936"/>
                  </a:lnTo>
                  <a:cubicBezTo>
                    <a:pt x="371741" y="60565"/>
                    <a:pt x="439205" y="60565"/>
                    <a:pt x="508039" y="67936"/>
                  </a:cubicBezTo>
                  <a:lnTo>
                    <a:pt x="543735" y="190131"/>
                  </a:lnTo>
                  <a:cubicBezTo>
                    <a:pt x="546903" y="201066"/>
                    <a:pt x="555797" y="209381"/>
                    <a:pt x="566883" y="211848"/>
                  </a:cubicBezTo>
                  <a:cubicBezTo>
                    <a:pt x="632062" y="226315"/>
                    <a:pt x="698521" y="252387"/>
                    <a:pt x="764431" y="289393"/>
                  </a:cubicBezTo>
                  <a:cubicBezTo>
                    <a:pt x="769304" y="292103"/>
                    <a:pt x="774543" y="293383"/>
                    <a:pt x="779721" y="293383"/>
                  </a:cubicBezTo>
                  <a:cubicBezTo>
                    <a:pt x="790625" y="293383"/>
                    <a:pt x="801224" y="287657"/>
                    <a:pt x="806889" y="277453"/>
                  </a:cubicBezTo>
                  <a:cubicBezTo>
                    <a:pt x="815356" y="262438"/>
                    <a:pt x="809996" y="243432"/>
                    <a:pt x="795010" y="234995"/>
                  </a:cubicBezTo>
                  <a:cubicBezTo>
                    <a:pt x="729770" y="198385"/>
                    <a:pt x="663738" y="171613"/>
                    <a:pt x="598498" y="155227"/>
                  </a:cubicBezTo>
                  <a:lnTo>
                    <a:pt x="562071" y="30656"/>
                  </a:lnTo>
                  <a:close/>
                </a:path>
              </a:pathLst>
            </a:custGeom>
            <a:grpFill/>
            <a:ln w="1027" cap="flat">
              <a:noFill/>
              <a:prstDash val="solid"/>
              <a:miter/>
            </a:ln>
          </p:spPr>
          <p:txBody>
            <a:bodyPr/>
            <a:lstStyle/>
            <a:p>
              <a:endParaRPr lang="en-US"/>
            </a:p>
          </p:txBody>
        </p:sp>
        <p:sp>
          <p:nvSpPr>
            <p:cNvPr id="42" name="Freeform 41">
              <a:extLst>
                <a:ext uri="{FF2B5EF4-FFF2-40B4-BE49-F238E27FC236}">
                  <a16:creationId xmlns:a16="http://schemas.microsoft.com/office/drawing/2014/main" id="{E31CAF9B-7315-5C51-CA91-FE3119E51D7D}"/>
                </a:ext>
              </a:extLst>
            </p:cNvPr>
            <p:cNvSpPr/>
            <p:nvPr/>
          </p:nvSpPr>
          <p:spPr>
            <a:xfrm>
              <a:off x="-2127910" y="2357910"/>
              <a:ext cx="293389" cy="810958"/>
            </a:xfrm>
            <a:custGeom>
              <a:avLst/>
              <a:gdLst>
                <a:gd name="csX0" fmla="*/ 30656 w 293389"/>
                <a:gd name="csY0" fmla="*/ 562151 h 810958"/>
                <a:gd name="csX1" fmla="*/ 155227 w 293389"/>
                <a:gd name="csY1" fmla="*/ 598578 h 810958"/>
                <a:gd name="csX2" fmla="*/ 202040 w 293389"/>
                <a:gd name="csY2" fmla="*/ 730399 h 810958"/>
                <a:gd name="csX3" fmla="*/ 234995 w 293389"/>
                <a:gd name="csY3" fmla="*/ 795030 h 810958"/>
                <a:gd name="csX4" fmla="*/ 262225 w 293389"/>
                <a:gd name="csY4" fmla="*/ 810959 h 810958"/>
                <a:gd name="csX5" fmla="*/ 277453 w 293389"/>
                <a:gd name="csY5" fmla="*/ 806969 h 810958"/>
                <a:gd name="csX6" fmla="*/ 289393 w 293389"/>
                <a:gd name="csY6" fmla="*/ 764511 h 810958"/>
                <a:gd name="csX7" fmla="*/ 258752 w 293389"/>
                <a:gd name="csY7" fmla="*/ 704388 h 810958"/>
                <a:gd name="csX8" fmla="*/ 211848 w 293389"/>
                <a:gd name="csY8" fmla="*/ 566963 h 810958"/>
                <a:gd name="csX9" fmla="*/ 190131 w 293389"/>
                <a:gd name="csY9" fmla="*/ 543785 h 810958"/>
                <a:gd name="csX10" fmla="*/ 67936 w 293389"/>
                <a:gd name="csY10" fmla="*/ 508058 h 810958"/>
                <a:gd name="csX11" fmla="*/ 67936 w 293389"/>
                <a:gd name="csY11" fmla="*/ 302957 h 810958"/>
                <a:gd name="csX12" fmla="*/ 190131 w 293389"/>
                <a:gd name="csY12" fmla="*/ 267230 h 810958"/>
                <a:gd name="csX13" fmla="*/ 211848 w 293389"/>
                <a:gd name="csY13" fmla="*/ 244052 h 810958"/>
                <a:gd name="csX14" fmla="*/ 289393 w 293389"/>
                <a:gd name="csY14" fmla="*/ 46474 h 810958"/>
                <a:gd name="csX15" fmla="*/ 277453 w 293389"/>
                <a:gd name="csY15" fmla="*/ 4016 h 810958"/>
                <a:gd name="csX16" fmla="*/ 234995 w 293389"/>
                <a:gd name="csY16" fmla="*/ 15955 h 810958"/>
                <a:gd name="csX17" fmla="*/ 155227 w 293389"/>
                <a:gd name="csY17" fmla="*/ 212437 h 810958"/>
                <a:gd name="csX18" fmla="*/ 30656 w 293389"/>
                <a:gd name="csY18" fmla="*/ 248864 h 810958"/>
                <a:gd name="csX19" fmla="*/ 8452 w 293389"/>
                <a:gd name="csY19" fmla="*/ 274845 h 810958"/>
                <a:gd name="csX20" fmla="*/ 8452 w 293389"/>
                <a:gd name="csY20" fmla="*/ 536171 h 810958"/>
                <a:gd name="csX21" fmla="*/ 30656 w 293389"/>
                <a:gd name="csY21" fmla="*/ 562151 h 81095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293389" h="810958">
                  <a:moveTo>
                    <a:pt x="30656" y="562151"/>
                  </a:moveTo>
                  <a:lnTo>
                    <a:pt x="155227" y="598578"/>
                  </a:lnTo>
                  <a:cubicBezTo>
                    <a:pt x="166192" y="642194"/>
                    <a:pt x="181908" y="686448"/>
                    <a:pt x="202040" y="730399"/>
                  </a:cubicBezTo>
                  <a:cubicBezTo>
                    <a:pt x="212152" y="752389"/>
                    <a:pt x="223178" y="773983"/>
                    <a:pt x="234995" y="795030"/>
                  </a:cubicBezTo>
                  <a:cubicBezTo>
                    <a:pt x="240721" y="805233"/>
                    <a:pt x="251290" y="810959"/>
                    <a:pt x="262225" y="810959"/>
                  </a:cubicBezTo>
                  <a:cubicBezTo>
                    <a:pt x="267372" y="810959"/>
                    <a:pt x="272611" y="809680"/>
                    <a:pt x="277453" y="806969"/>
                  </a:cubicBezTo>
                  <a:cubicBezTo>
                    <a:pt x="292469" y="798563"/>
                    <a:pt x="297829" y="779527"/>
                    <a:pt x="289393" y="764511"/>
                  </a:cubicBezTo>
                  <a:cubicBezTo>
                    <a:pt x="278428" y="744927"/>
                    <a:pt x="268133" y="724855"/>
                    <a:pt x="258752" y="704388"/>
                  </a:cubicBezTo>
                  <a:cubicBezTo>
                    <a:pt x="237645" y="658336"/>
                    <a:pt x="221868" y="612101"/>
                    <a:pt x="211848" y="566963"/>
                  </a:cubicBezTo>
                  <a:cubicBezTo>
                    <a:pt x="209381" y="555846"/>
                    <a:pt x="201066" y="546983"/>
                    <a:pt x="190131" y="543785"/>
                  </a:cubicBezTo>
                  <a:lnTo>
                    <a:pt x="67936" y="508058"/>
                  </a:lnTo>
                  <a:cubicBezTo>
                    <a:pt x="60534" y="439255"/>
                    <a:pt x="60534" y="371761"/>
                    <a:pt x="67936" y="302957"/>
                  </a:cubicBezTo>
                  <a:lnTo>
                    <a:pt x="190131" y="267230"/>
                  </a:lnTo>
                  <a:cubicBezTo>
                    <a:pt x="201066" y="264032"/>
                    <a:pt x="209381" y="255169"/>
                    <a:pt x="211848" y="244052"/>
                  </a:cubicBezTo>
                  <a:cubicBezTo>
                    <a:pt x="226315" y="178842"/>
                    <a:pt x="252417" y="112384"/>
                    <a:pt x="289393" y="46474"/>
                  </a:cubicBezTo>
                  <a:cubicBezTo>
                    <a:pt x="297829" y="31458"/>
                    <a:pt x="292469" y="12453"/>
                    <a:pt x="277453" y="4016"/>
                  </a:cubicBezTo>
                  <a:cubicBezTo>
                    <a:pt x="262438" y="-4421"/>
                    <a:pt x="243402" y="848"/>
                    <a:pt x="234995" y="15955"/>
                  </a:cubicBezTo>
                  <a:cubicBezTo>
                    <a:pt x="198416" y="81165"/>
                    <a:pt x="171613" y="147166"/>
                    <a:pt x="155227" y="212437"/>
                  </a:cubicBezTo>
                  <a:lnTo>
                    <a:pt x="30656" y="248864"/>
                  </a:lnTo>
                  <a:cubicBezTo>
                    <a:pt x="18747" y="252336"/>
                    <a:pt x="10036" y="262540"/>
                    <a:pt x="8452" y="274845"/>
                  </a:cubicBezTo>
                  <a:cubicBezTo>
                    <a:pt x="-2817" y="362776"/>
                    <a:pt x="-2817" y="448240"/>
                    <a:pt x="8452" y="536171"/>
                  </a:cubicBezTo>
                  <a:cubicBezTo>
                    <a:pt x="10036" y="548476"/>
                    <a:pt x="18747" y="558679"/>
                    <a:pt x="30656" y="562151"/>
                  </a:cubicBezTo>
                  <a:close/>
                </a:path>
              </a:pathLst>
            </a:custGeom>
            <a:grpFill/>
            <a:ln w="1027" cap="flat">
              <a:noFill/>
              <a:prstDash val="solid"/>
              <a:miter/>
            </a:ln>
          </p:spPr>
          <p:txBody>
            <a:bodyPr/>
            <a:lstStyle/>
            <a:p>
              <a:endParaRPr lang="en-US"/>
            </a:p>
          </p:txBody>
        </p:sp>
        <p:sp>
          <p:nvSpPr>
            <p:cNvPr id="43" name="Freeform 42">
              <a:extLst>
                <a:ext uri="{FF2B5EF4-FFF2-40B4-BE49-F238E27FC236}">
                  <a16:creationId xmlns:a16="http://schemas.microsoft.com/office/drawing/2014/main" id="{E34EC51B-282A-84CD-6E6F-40FD54B269C9}"/>
                </a:ext>
              </a:extLst>
            </p:cNvPr>
            <p:cNvSpPr/>
            <p:nvPr/>
          </p:nvSpPr>
          <p:spPr>
            <a:xfrm>
              <a:off x="-1628915" y="3374485"/>
              <a:ext cx="810954" cy="293430"/>
            </a:xfrm>
            <a:custGeom>
              <a:avLst/>
              <a:gdLst>
                <a:gd name="csX0" fmla="*/ 562101 w 810954"/>
                <a:gd name="csY0" fmla="*/ 262760 h 293430"/>
                <a:gd name="csX1" fmla="*/ 598529 w 810954"/>
                <a:gd name="csY1" fmla="*/ 138189 h 293430"/>
                <a:gd name="csX2" fmla="*/ 730349 w 810954"/>
                <a:gd name="csY2" fmla="*/ 91375 h 293430"/>
                <a:gd name="csX3" fmla="*/ 794980 w 810954"/>
                <a:gd name="csY3" fmla="*/ 58420 h 293430"/>
                <a:gd name="csX4" fmla="*/ 806980 w 810954"/>
                <a:gd name="csY4" fmla="*/ 15993 h 293430"/>
                <a:gd name="csX5" fmla="*/ 764522 w 810954"/>
                <a:gd name="csY5" fmla="*/ 4023 h 293430"/>
                <a:gd name="csX6" fmla="*/ 704399 w 810954"/>
                <a:gd name="csY6" fmla="*/ 34663 h 293430"/>
                <a:gd name="csX7" fmla="*/ 566914 w 810954"/>
                <a:gd name="csY7" fmla="*/ 81568 h 293430"/>
                <a:gd name="csX8" fmla="*/ 543766 w 810954"/>
                <a:gd name="csY8" fmla="*/ 103284 h 293430"/>
                <a:gd name="csX9" fmla="*/ 508070 w 810954"/>
                <a:gd name="csY9" fmla="*/ 225480 h 293430"/>
                <a:gd name="csX10" fmla="*/ 302938 w 810954"/>
                <a:gd name="csY10" fmla="*/ 225480 h 293430"/>
                <a:gd name="csX11" fmla="*/ 267211 w 810954"/>
                <a:gd name="csY11" fmla="*/ 103284 h 293430"/>
                <a:gd name="csX12" fmla="*/ 244033 w 810954"/>
                <a:gd name="csY12" fmla="*/ 81568 h 293430"/>
                <a:gd name="csX13" fmla="*/ 46454 w 810954"/>
                <a:gd name="csY13" fmla="*/ 4023 h 293430"/>
                <a:gd name="csX14" fmla="*/ 3997 w 810954"/>
                <a:gd name="csY14" fmla="*/ 15962 h 293430"/>
                <a:gd name="csX15" fmla="*/ 15936 w 810954"/>
                <a:gd name="csY15" fmla="*/ 58420 h 293430"/>
                <a:gd name="csX16" fmla="*/ 212418 w 810954"/>
                <a:gd name="csY16" fmla="*/ 138189 h 293430"/>
                <a:gd name="csX17" fmla="*/ 248845 w 810954"/>
                <a:gd name="csY17" fmla="*/ 262760 h 293430"/>
                <a:gd name="csX18" fmla="*/ 274825 w 810954"/>
                <a:gd name="csY18" fmla="*/ 284964 h 293430"/>
                <a:gd name="csX19" fmla="*/ 405488 w 810954"/>
                <a:gd name="csY19" fmla="*/ 293431 h 293430"/>
                <a:gd name="csX20" fmla="*/ 536151 w 810954"/>
                <a:gd name="csY20" fmla="*/ 284964 h 293430"/>
                <a:gd name="csX21" fmla="*/ 562101 w 810954"/>
                <a:gd name="csY21" fmla="*/ 262760 h 29343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810954" h="293430">
                  <a:moveTo>
                    <a:pt x="562101" y="262760"/>
                  </a:moveTo>
                  <a:lnTo>
                    <a:pt x="598529" y="138189"/>
                  </a:lnTo>
                  <a:cubicBezTo>
                    <a:pt x="642144" y="127224"/>
                    <a:pt x="686368" y="111508"/>
                    <a:pt x="730349" y="91375"/>
                  </a:cubicBezTo>
                  <a:cubicBezTo>
                    <a:pt x="752400" y="81263"/>
                    <a:pt x="773903" y="70238"/>
                    <a:pt x="794980" y="58420"/>
                  </a:cubicBezTo>
                  <a:cubicBezTo>
                    <a:pt x="810026" y="50014"/>
                    <a:pt x="815387" y="31008"/>
                    <a:pt x="806980" y="15993"/>
                  </a:cubicBezTo>
                  <a:cubicBezTo>
                    <a:pt x="798513" y="916"/>
                    <a:pt x="779447" y="-4414"/>
                    <a:pt x="764522" y="4023"/>
                  </a:cubicBezTo>
                  <a:cubicBezTo>
                    <a:pt x="744908" y="14988"/>
                    <a:pt x="724867" y="25282"/>
                    <a:pt x="704399" y="34663"/>
                  </a:cubicBezTo>
                  <a:cubicBezTo>
                    <a:pt x="658286" y="55770"/>
                    <a:pt x="612052" y="71547"/>
                    <a:pt x="566914" y="81568"/>
                  </a:cubicBezTo>
                  <a:cubicBezTo>
                    <a:pt x="555827" y="84035"/>
                    <a:pt x="546933" y="92350"/>
                    <a:pt x="543766" y="103284"/>
                  </a:cubicBezTo>
                  <a:lnTo>
                    <a:pt x="508070" y="225480"/>
                  </a:lnTo>
                  <a:cubicBezTo>
                    <a:pt x="439235" y="232851"/>
                    <a:pt x="371772" y="232851"/>
                    <a:pt x="302938" y="225480"/>
                  </a:cubicBezTo>
                  <a:lnTo>
                    <a:pt x="267211" y="103284"/>
                  </a:lnTo>
                  <a:cubicBezTo>
                    <a:pt x="264013" y="92350"/>
                    <a:pt x="255150" y="84035"/>
                    <a:pt x="244033" y="81568"/>
                  </a:cubicBezTo>
                  <a:cubicBezTo>
                    <a:pt x="178823" y="67101"/>
                    <a:pt x="112365" y="40998"/>
                    <a:pt x="46454" y="4023"/>
                  </a:cubicBezTo>
                  <a:cubicBezTo>
                    <a:pt x="31439" y="-4444"/>
                    <a:pt x="12403" y="886"/>
                    <a:pt x="3997" y="15962"/>
                  </a:cubicBezTo>
                  <a:cubicBezTo>
                    <a:pt x="-4440" y="30978"/>
                    <a:pt x="920" y="49983"/>
                    <a:pt x="15936" y="58420"/>
                  </a:cubicBezTo>
                  <a:cubicBezTo>
                    <a:pt x="81146" y="95000"/>
                    <a:pt x="147147" y="121802"/>
                    <a:pt x="212418" y="138189"/>
                  </a:cubicBezTo>
                  <a:lnTo>
                    <a:pt x="248845" y="262760"/>
                  </a:lnTo>
                  <a:cubicBezTo>
                    <a:pt x="252317" y="274669"/>
                    <a:pt x="262521" y="283380"/>
                    <a:pt x="274825" y="284964"/>
                  </a:cubicBezTo>
                  <a:cubicBezTo>
                    <a:pt x="318776" y="290598"/>
                    <a:pt x="362147" y="293431"/>
                    <a:pt x="405488" y="293431"/>
                  </a:cubicBezTo>
                  <a:cubicBezTo>
                    <a:pt x="448830" y="293431"/>
                    <a:pt x="492171" y="290598"/>
                    <a:pt x="536151" y="284964"/>
                  </a:cubicBezTo>
                  <a:cubicBezTo>
                    <a:pt x="548456" y="283380"/>
                    <a:pt x="558629" y="274669"/>
                    <a:pt x="562101" y="262760"/>
                  </a:cubicBezTo>
                  <a:close/>
                </a:path>
              </a:pathLst>
            </a:custGeom>
            <a:grpFill/>
            <a:ln w="1027" cap="flat">
              <a:noFill/>
              <a:prstDash val="solid"/>
              <a:miter/>
            </a:ln>
          </p:spPr>
          <p:txBody>
            <a:bodyPr/>
            <a:lstStyle/>
            <a:p>
              <a:endParaRPr lang="en-US"/>
            </a:p>
          </p:txBody>
        </p:sp>
        <p:sp>
          <p:nvSpPr>
            <p:cNvPr id="44" name="Freeform 43">
              <a:extLst>
                <a:ext uri="{FF2B5EF4-FFF2-40B4-BE49-F238E27FC236}">
                  <a16:creationId xmlns:a16="http://schemas.microsoft.com/office/drawing/2014/main" id="{AFBA5B25-25B9-518F-3C4D-34F56600DE70}"/>
                </a:ext>
              </a:extLst>
            </p:cNvPr>
            <p:cNvSpPr/>
            <p:nvPr/>
          </p:nvSpPr>
          <p:spPr>
            <a:xfrm>
              <a:off x="-612341" y="2357953"/>
              <a:ext cx="293428" cy="810946"/>
            </a:xfrm>
            <a:custGeom>
              <a:avLst/>
              <a:gdLst>
                <a:gd name="csX0" fmla="*/ 262803 w 293428"/>
                <a:gd name="csY0" fmla="*/ 248821 h 810946"/>
                <a:gd name="csX1" fmla="*/ 138171 w 293428"/>
                <a:gd name="csY1" fmla="*/ 212394 h 810946"/>
                <a:gd name="csX2" fmla="*/ 91327 w 293428"/>
                <a:gd name="csY2" fmla="*/ 80573 h 810946"/>
                <a:gd name="csX3" fmla="*/ 58433 w 293428"/>
                <a:gd name="csY3" fmla="*/ 15942 h 810946"/>
                <a:gd name="csX4" fmla="*/ 15975 w 293428"/>
                <a:gd name="csY4" fmla="*/ 4003 h 810946"/>
                <a:gd name="csX5" fmla="*/ 3975 w 293428"/>
                <a:gd name="csY5" fmla="*/ 46461 h 810946"/>
                <a:gd name="csX6" fmla="*/ 34615 w 293428"/>
                <a:gd name="csY6" fmla="*/ 106554 h 810946"/>
                <a:gd name="csX7" fmla="*/ 81520 w 293428"/>
                <a:gd name="csY7" fmla="*/ 244009 h 810946"/>
                <a:gd name="csX8" fmla="*/ 103205 w 293428"/>
                <a:gd name="csY8" fmla="*/ 267187 h 810946"/>
                <a:gd name="csX9" fmla="*/ 225462 w 293428"/>
                <a:gd name="csY9" fmla="*/ 302914 h 810946"/>
                <a:gd name="csX10" fmla="*/ 225462 w 293428"/>
                <a:gd name="csY10" fmla="*/ 508015 h 810946"/>
                <a:gd name="csX11" fmla="*/ 103205 w 293428"/>
                <a:gd name="csY11" fmla="*/ 543742 h 810946"/>
                <a:gd name="csX12" fmla="*/ 81520 w 293428"/>
                <a:gd name="csY12" fmla="*/ 566920 h 810946"/>
                <a:gd name="csX13" fmla="*/ 4036 w 293428"/>
                <a:gd name="csY13" fmla="*/ 764498 h 810946"/>
                <a:gd name="csX14" fmla="*/ 15914 w 293428"/>
                <a:gd name="csY14" fmla="*/ 806956 h 810946"/>
                <a:gd name="csX15" fmla="*/ 31204 w 293428"/>
                <a:gd name="csY15" fmla="*/ 810946 h 810946"/>
                <a:gd name="csX16" fmla="*/ 58372 w 293428"/>
                <a:gd name="csY16" fmla="*/ 795017 h 810946"/>
                <a:gd name="csX17" fmla="*/ 138171 w 293428"/>
                <a:gd name="csY17" fmla="*/ 598535 h 810946"/>
                <a:gd name="csX18" fmla="*/ 262803 w 293428"/>
                <a:gd name="csY18" fmla="*/ 562108 h 810946"/>
                <a:gd name="csX19" fmla="*/ 284976 w 293428"/>
                <a:gd name="csY19" fmla="*/ 536127 h 810946"/>
                <a:gd name="csX20" fmla="*/ 284976 w 293428"/>
                <a:gd name="csY20" fmla="*/ 274801 h 810946"/>
                <a:gd name="csX21" fmla="*/ 262803 w 293428"/>
                <a:gd name="csY21" fmla="*/ 248821 h 8109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293428" h="810946">
                  <a:moveTo>
                    <a:pt x="262803" y="248821"/>
                  </a:moveTo>
                  <a:lnTo>
                    <a:pt x="138171" y="212394"/>
                  </a:lnTo>
                  <a:cubicBezTo>
                    <a:pt x="127206" y="168839"/>
                    <a:pt x="111490" y="124585"/>
                    <a:pt x="91327" y="80573"/>
                  </a:cubicBezTo>
                  <a:cubicBezTo>
                    <a:pt x="81276" y="58583"/>
                    <a:pt x="70189" y="36989"/>
                    <a:pt x="58433" y="15942"/>
                  </a:cubicBezTo>
                  <a:cubicBezTo>
                    <a:pt x="49966" y="896"/>
                    <a:pt x="30899" y="-4434"/>
                    <a:pt x="15975" y="4003"/>
                  </a:cubicBezTo>
                  <a:cubicBezTo>
                    <a:pt x="929" y="12409"/>
                    <a:pt x="-4432" y="31445"/>
                    <a:pt x="3975" y="46461"/>
                  </a:cubicBezTo>
                  <a:cubicBezTo>
                    <a:pt x="15000" y="66045"/>
                    <a:pt x="25234" y="86117"/>
                    <a:pt x="34615" y="106554"/>
                  </a:cubicBezTo>
                  <a:cubicBezTo>
                    <a:pt x="55753" y="152666"/>
                    <a:pt x="71530" y="198901"/>
                    <a:pt x="81520" y="244009"/>
                  </a:cubicBezTo>
                  <a:cubicBezTo>
                    <a:pt x="84017" y="255126"/>
                    <a:pt x="92302" y="263989"/>
                    <a:pt x="103205" y="267187"/>
                  </a:cubicBezTo>
                  <a:lnTo>
                    <a:pt x="225462" y="302914"/>
                  </a:lnTo>
                  <a:cubicBezTo>
                    <a:pt x="232894" y="371717"/>
                    <a:pt x="232894" y="439211"/>
                    <a:pt x="225462" y="508015"/>
                  </a:cubicBezTo>
                  <a:lnTo>
                    <a:pt x="103205" y="543742"/>
                  </a:lnTo>
                  <a:cubicBezTo>
                    <a:pt x="92302" y="546940"/>
                    <a:pt x="84017" y="555803"/>
                    <a:pt x="81520" y="566920"/>
                  </a:cubicBezTo>
                  <a:cubicBezTo>
                    <a:pt x="67022" y="632160"/>
                    <a:pt x="40950" y="698649"/>
                    <a:pt x="4036" y="764498"/>
                  </a:cubicBezTo>
                  <a:cubicBezTo>
                    <a:pt x="-4432" y="779514"/>
                    <a:pt x="929" y="798519"/>
                    <a:pt x="15914" y="806956"/>
                  </a:cubicBezTo>
                  <a:cubicBezTo>
                    <a:pt x="20787" y="809667"/>
                    <a:pt x="26026" y="810946"/>
                    <a:pt x="31204" y="810946"/>
                  </a:cubicBezTo>
                  <a:cubicBezTo>
                    <a:pt x="42108" y="810946"/>
                    <a:pt x="52707" y="805220"/>
                    <a:pt x="58372" y="795017"/>
                  </a:cubicBezTo>
                  <a:cubicBezTo>
                    <a:pt x="94982" y="729868"/>
                    <a:pt x="121724" y="663866"/>
                    <a:pt x="138171" y="598535"/>
                  </a:cubicBezTo>
                  <a:lnTo>
                    <a:pt x="262803" y="562108"/>
                  </a:lnTo>
                  <a:cubicBezTo>
                    <a:pt x="274682" y="558636"/>
                    <a:pt x="283392" y="548432"/>
                    <a:pt x="284976" y="536127"/>
                  </a:cubicBezTo>
                  <a:cubicBezTo>
                    <a:pt x="296246" y="448196"/>
                    <a:pt x="296246" y="362732"/>
                    <a:pt x="284976" y="274801"/>
                  </a:cubicBezTo>
                  <a:cubicBezTo>
                    <a:pt x="283392" y="262496"/>
                    <a:pt x="274682" y="252293"/>
                    <a:pt x="262803" y="248821"/>
                  </a:cubicBezTo>
                  <a:close/>
                </a:path>
              </a:pathLst>
            </a:custGeom>
            <a:grpFill/>
            <a:ln w="1027" cap="flat">
              <a:noFill/>
              <a:prstDash val="solid"/>
              <a:miter/>
            </a:ln>
          </p:spPr>
          <p:txBody>
            <a:bodyPr/>
            <a:lstStyle/>
            <a:p>
              <a:endParaRPr lang="en-US"/>
            </a:p>
          </p:txBody>
        </p:sp>
        <p:sp>
          <p:nvSpPr>
            <p:cNvPr id="45" name="Freeform 44">
              <a:extLst>
                <a:ext uri="{FF2B5EF4-FFF2-40B4-BE49-F238E27FC236}">
                  <a16:creationId xmlns:a16="http://schemas.microsoft.com/office/drawing/2014/main" id="{02F0B0D2-A011-B998-0EE4-4020AA5F616C}"/>
                </a:ext>
              </a:extLst>
            </p:cNvPr>
            <p:cNvSpPr/>
            <p:nvPr/>
          </p:nvSpPr>
          <p:spPr>
            <a:xfrm>
              <a:off x="-1816009" y="2170835"/>
              <a:ext cx="1185165" cy="1185165"/>
            </a:xfrm>
            <a:custGeom>
              <a:avLst/>
              <a:gdLst>
                <a:gd name="csX0" fmla="*/ 592583 w 1185165"/>
                <a:gd name="csY0" fmla="*/ 0 h 1185165"/>
                <a:gd name="csX1" fmla="*/ 276372 w 1185165"/>
                <a:gd name="csY1" fmla="*/ 92256 h 1185165"/>
                <a:gd name="csX2" fmla="*/ 266930 w 1185165"/>
                <a:gd name="csY2" fmla="*/ 135323 h 1185165"/>
                <a:gd name="csX3" fmla="*/ 309997 w 1185165"/>
                <a:gd name="csY3" fmla="*/ 144765 h 1185165"/>
                <a:gd name="csX4" fmla="*/ 592583 w 1185165"/>
                <a:gd name="csY4" fmla="*/ 62377 h 1185165"/>
                <a:gd name="csX5" fmla="*/ 1122788 w 1185165"/>
                <a:gd name="csY5" fmla="*/ 592583 h 1185165"/>
                <a:gd name="csX6" fmla="*/ 592583 w 1185165"/>
                <a:gd name="csY6" fmla="*/ 1122788 h 1185165"/>
                <a:gd name="csX7" fmla="*/ 62377 w 1185165"/>
                <a:gd name="csY7" fmla="*/ 592583 h 1185165"/>
                <a:gd name="csX8" fmla="*/ 144765 w 1185165"/>
                <a:gd name="csY8" fmla="*/ 309997 h 1185165"/>
                <a:gd name="csX9" fmla="*/ 135323 w 1185165"/>
                <a:gd name="csY9" fmla="*/ 266930 h 1185165"/>
                <a:gd name="csX10" fmla="*/ 92256 w 1185165"/>
                <a:gd name="csY10" fmla="*/ 276372 h 1185165"/>
                <a:gd name="csX11" fmla="*/ 0 w 1185165"/>
                <a:gd name="csY11" fmla="*/ 592583 h 1185165"/>
                <a:gd name="csX12" fmla="*/ 592583 w 1185165"/>
                <a:gd name="csY12" fmla="*/ 1185165 h 1185165"/>
                <a:gd name="csX13" fmla="*/ 1185165 w 1185165"/>
                <a:gd name="csY13" fmla="*/ 592583 h 1185165"/>
                <a:gd name="csX14" fmla="*/ 592583 w 1185165"/>
                <a:gd name="csY14" fmla="*/ 0 h 118516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1185165" h="1185165">
                  <a:moveTo>
                    <a:pt x="592583" y="0"/>
                  </a:moveTo>
                  <a:cubicBezTo>
                    <a:pt x="479920" y="0"/>
                    <a:pt x="370577" y="31889"/>
                    <a:pt x="276372" y="92256"/>
                  </a:cubicBezTo>
                  <a:cubicBezTo>
                    <a:pt x="261844" y="101546"/>
                    <a:pt x="257641" y="120825"/>
                    <a:pt x="266930" y="135323"/>
                  </a:cubicBezTo>
                  <a:cubicBezTo>
                    <a:pt x="276159" y="149851"/>
                    <a:pt x="295439" y="154024"/>
                    <a:pt x="309997" y="144765"/>
                  </a:cubicBezTo>
                  <a:cubicBezTo>
                    <a:pt x="394152" y="90855"/>
                    <a:pt x="491859" y="62377"/>
                    <a:pt x="592583" y="62377"/>
                  </a:cubicBezTo>
                  <a:cubicBezTo>
                    <a:pt x="884915" y="62377"/>
                    <a:pt x="1122788" y="300220"/>
                    <a:pt x="1122788" y="592583"/>
                  </a:cubicBezTo>
                  <a:cubicBezTo>
                    <a:pt x="1122788" y="884945"/>
                    <a:pt x="884915" y="1122788"/>
                    <a:pt x="592583" y="1122788"/>
                  </a:cubicBezTo>
                  <a:cubicBezTo>
                    <a:pt x="300220" y="1122788"/>
                    <a:pt x="62377" y="884945"/>
                    <a:pt x="62377" y="592583"/>
                  </a:cubicBezTo>
                  <a:cubicBezTo>
                    <a:pt x="62377" y="491859"/>
                    <a:pt x="90855" y="394152"/>
                    <a:pt x="144765" y="309997"/>
                  </a:cubicBezTo>
                  <a:cubicBezTo>
                    <a:pt x="154054" y="295499"/>
                    <a:pt x="149851" y="276220"/>
                    <a:pt x="135323" y="266930"/>
                  </a:cubicBezTo>
                  <a:cubicBezTo>
                    <a:pt x="120795" y="257519"/>
                    <a:pt x="101515" y="261783"/>
                    <a:pt x="92256" y="276372"/>
                  </a:cubicBezTo>
                  <a:cubicBezTo>
                    <a:pt x="31889" y="370577"/>
                    <a:pt x="0" y="479920"/>
                    <a:pt x="0" y="592583"/>
                  </a:cubicBezTo>
                  <a:cubicBezTo>
                    <a:pt x="0" y="919332"/>
                    <a:pt x="265834" y="1185165"/>
                    <a:pt x="592583" y="1185165"/>
                  </a:cubicBezTo>
                  <a:cubicBezTo>
                    <a:pt x="919332" y="1185165"/>
                    <a:pt x="1185165" y="919332"/>
                    <a:pt x="1185165" y="592583"/>
                  </a:cubicBezTo>
                  <a:cubicBezTo>
                    <a:pt x="1185165" y="265834"/>
                    <a:pt x="919332" y="0"/>
                    <a:pt x="592583" y="0"/>
                  </a:cubicBezTo>
                  <a:close/>
                </a:path>
              </a:pathLst>
            </a:custGeom>
            <a:grpFill/>
            <a:ln w="1027" cap="flat">
              <a:noFill/>
              <a:prstDash val="solid"/>
              <a:miter/>
            </a:ln>
          </p:spPr>
          <p:txBody>
            <a:bodyPr/>
            <a:lstStyle/>
            <a:p>
              <a:endParaRPr lang="en-US"/>
            </a:p>
          </p:txBody>
        </p:sp>
        <p:sp>
          <p:nvSpPr>
            <p:cNvPr id="46" name="Freeform 45">
              <a:extLst>
                <a:ext uri="{FF2B5EF4-FFF2-40B4-BE49-F238E27FC236}">
                  <a16:creationId xmlns:a16="http://schemas.microsoft.com/office/drawing/2014/main" id="{8236479B-1BB7-1243-F18F-0F076598C869}"/>
                </a:ext>
              </a:extLst>
            </p:cNvPr>
            <p:cNvSpPr/>
            <p:nvPr/>
          </p:nvSpPr>
          <p:spPr>
            <a:xfrm>
              <a:off x="-2127895" y="3231246"/>
              <a:ext cx="436639" cy="436639"/>
            </a:xfrm>
            <a:custGeom>
              <a:avLst/>
              <a:gdLst>
                <a:gd name="csX0" fmla="*/ 9137 w 436639"/>
                <a:gd name="csY0" fmla="*/ 240371 h 436639"/>
                <a:gd name="csX1" fmla="*/ 31189 w 436639"/>
                <a:gd name="csY1" fmla="*/ 249509 h 436639"/>
                <a:gd name="csX2" fmla="*/ 53240 w 436639"/>
                <a:gd name="csY2" fmla="*/ 240371 h 436639"/>
                <a:gd name="csX3" fmla="*/ 231234 w 436639"/>
                <a:gd name="csY3" fmla="*/ 62377 h 436639"/>
                <a:gd name="csX4" fmla="*/ 374263 w 436639"/>
                <a:gd name="csY4" fmla="*/ 62377 h 436639"/>
                <a:gd name="csX5" fmla="*/ 374263 w 436639"/>
                <a:gd name="csY5" fmla="*/ 205406 h 436639"/>
                <a:gd name="csX6" fmla="*/ 196269 w 436639"/>
                <a:gd name="csY6" fmla="*/ 383400 h 436639"/>
                <a:gd name="csX7" fmla="*/ 196269 w 436639"/>
                <a:gd name="csY7" fmla="*/ 427503 h 436639"/>
                <a:gd name="csX8" fmla="*/ 218320 w 436639"/>
                <a:gd name="csY8" fmla="*/ 436640 h 436639"/>
                <a:gd name="csX9" fmla="*/ 240371 w 436639"/>
                <a:gd name="csY9" fmla="*/ 427503 h 436639"/>
                <a:gd name="csX10" fmla="*/ 376429 w 436639"/>
                <a:gd name="csY10" fmla="*/ 291445 h 436639"/>
                <a:gd name="csX11" fmla="*/ 405451 w 436639"/>
                <a:gd name="csY11" fmla="*/ 311886 h 436639"/>
                <a:gd name="csX12" fmla="*/ 436640 w 436639"/>
                <a:gd name="csY12" fmla="*/ 280697 h 436639"/>
                <a:gd name="csX13" fmla="*/ 436640 w 436639"/>
                <a:gd name="csY13" fmla="*/ 31189 h 436639"/>
                <a:gd name="csX14" fmla="*/ 405451 w 436639"/>
                <a:gd name="csY14" fmla="*/ 0 h 436639"/>
                <a:gd name="csX15" fmla="*/ 155943 w 436639"/>
                <a:gd name="csY15" fmla="*/ 0 h 436639"/>
                <a:gd name="csX16" fmla="*/ 124754 w 436639"/>
                <a:gd name="csY16" fmla="*/ 31189 h 436639"/>
                <a:gd name="csX17" fmla="*/ 145195 w 436639"/>
                <a:gd name="csY17" fmla="*/ 60211 h 436639"/>
                <a:gd name="csX18" fmla="*/ 9137 w 436639"/>
                <a:gd name="csY18" fmla="*/ 196269 h 436639"/>
                <a:gd name="csX19" fmla="*/ 9137 w 436639"/>
                <a:gd name="csY19" fmla="*/ 240371 h 43663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436639" h="436639">
                  <a:moveTo>
                    <a:pt x="9137" y="240371"/>
                  </a:moveTo>
                  <a:cubicBezTo>
                    <a:pt x="15229" y="246463"/>
                    <a:pt x="23209" y="249509"/>
                    <a:pt x="31189" y="249509"/>
                  </a:cubicBezTo>
                  <a:cubicBezTo>
                    <a:pt x="39168" y="249509"/>
                    <a:pt x="47148" y="246463"/>
                    <a:pt x="53240" y="240371"/>
                  </a:cubicBezTo>
                  <a:lnTo>
                    <a:pt x="231234" y="62377"/>
                  </a:lnTo>
                  <a:lnTo>
                    <a:pt x="374263" y="62377"/>
                  </a:lnTo>
                  <a:lnTo>
                    <a:pt x="374263" y="205406"/>
                  </a:lnTo>
                  <a:lnTo>
                    <a:pt x="196269" y="383400"/>
                  </a:lnTo>
                  <a:cubicBezTo>
                    <a:pt x="184086" y="395583"/>
                    <a:pt x="184086" y="415320"/>
                    <a:pt x="196269" y="427503"/>
                  </a:cubicBezTo>
                  <a:cubicBezTo>
                    <a:pt x="202360" y="433594"/>
                    <a:pt x="210340" y="436640"/>
                    <a:pt x="218320" y="436640"/>
                  </a:cubicBezTo>
                  <a:cubicBezTo>
                    <a:pt x="226300" y="436640"/>
                    <a:pt x="234280" y="433594"/>
                    <a:pt x="240371" y="427503"/>
                  </a:cubicBezTo>
                  <a:lnTo>
                    <a:pt x="376429" y="291445"/>
                  </a:lnTo>
                  <a:cubicBezTo>
                    <a:pt x="380830" y="303327"/>
                    <a:pt x="392027" y="311886"/>
                    <a:pt x="405451" y="311886"/>
                  </a:cubicBezTo>
                  <a:cubicBezTo>
                    <a:pt x="422690" y="311886"/>
                    <a:pt x="436640" y="297936"/>
                    <a:pt x="436640" y="280697"/>
                  </a:cubicBezTo>
                  <a:lnTo>
                    <a:pt x="436640" y="31189"/>
                  </a:lnTo>
                  <a:cubicBezTo>
                    <a:pt x="436640" y="13950"/>
                    <a:pt x="422690" y="0"/>
                    <a:pt x="405451" y="0"/>
                  </a:cubicBezTo>
                  <a:lnTo>
                    <a:pt x="155943" y="0"/>
                  </a:lnTo>
                  <a:cubicBezTo>
                    <a:pt x="138704" y="0"/>
                    <a:pt x="124754" y="13950"/>
                    <a:pt x="124754" y="31189"/>
                  </a:cubicBezTo>
                  <a:cubicBezTo>
                    <a:pt x="124754" y="44613"/>
                    <a:pt x="133313" y="55810"/>
                    <a:pt x="145195" y="60211"/>
                  </a:cubicBezTo>
                  <a:lnTo>
                    <a:pt x="9137" y="196269"/>
                  </a:lnTo>
                  <a:cubicBezTo>
                    <a:pt x="-3046" y="208452"/>
                    <a:pt x="-3046" y="228188"/>
                    <a:pt x="9137" y="240371"/>
                  </a:cubicBezTo>
                  <a:close/>
                </a:path>
              </a:pathLst>
            </a:custGeom>
            <a:grpFill/>
            <a:ln w="1027" cap="flat">
              <a:noFill/>
              <a:prstDash val="solid"/>
              <a:miter/>
            </a:ln>
          </p:spPr>
          <p:txBody>
            <a:bodyPr/>
            <a:lstStyle/>
            <a:p>
              <a:endParaRPr lang="en-US"/>
            </a:p>
          </p:txBody>
        </p:sp>
        <p:sp>
          <p:nvSpPr>
            <p:cNvPr id="47" name="Freeform 46">
              <a:extLst>
                <a:ext uri="{FF2B5EF4-FFF2-40B4-BE49-F238E27FC236}">
                  <a16:creationId xmlns:a16="http://schemas.microsoft.com/office/drawing/2014/main" id="{08D15145-3D43-93DE-E702-9CA67C5D42C2}"/>
                </a:ext>
              </a:extLst>
            </p:cNvPr>
            <p:cNvSpPr/>
            <p:nvPr/>
          </p:nvSpPr>
          <p:spPr>
            <a:xfrm>
              <a:off x="-755598" y="3231246"/>
              <a:ext cx="436639" cy="436639"/>
            </a:xfrm>
            <a:custGeom>
              <a:avLst/>
              <a:gdLst>
                <a:gd name="csX0" fmla="*/ 291445 w 436639"/>
                <a:gd name="csY0" fmla="*/ 60211 h 436639"/>
                <a:gd name="csX1" fmla="*/ 311886 w 436639"/>
                <a:gd name="csY1" fmla="*/ 31189 h 436639"/>
                <a:gd name="csX2" fmla="*/ 280697 w 436639"/>
                <a:gd name="csY2" fmla="*/ 0 h 436639"/>
                <a:gd name="csX3" fmla="*/ 31189 w 436639"/>
                <a:gd name="csY3" fmla="*/ 0 h 436639"/>
                <a:gd name="csX4" fmla="*/ 0 w 436639"/>
                <a:gd name="csY4" fmla="*/ 31189 h 436639"/>
                <a:gd name="csX5" fmla="*/ 0 w 436639"/>
                <a:gd name="csY5" fmla="*/ 280697 h 436639"/>
                <a:gd name="csX6" fmla="*/ 31189 w 436639"/>
                <a:gd name="csY6" fmla="*/ 311886 h 436639"/>
                <a:gd name="csX7" fmla="*/ 60211 w 436639"/>
                <a:gd name="csY7" fmla="*/ 291445 h 436639"/>
                <a:gd name="csX8" fmla="*/ 196269 w 436639"/>
                <a:gd name="csY8" fmla="*/ 427503 h 436639"/>
                <a:gd name="csX9" fmla="*/ 218320 w 436639"/>
                <a:gd name="csY9" fmla="*/ 436640 h 436639"/>
                <a:gd name="csX10" fmla="*/ 240371 w 436639"/>
                <a:gd name="csY10" fmla="*/ 427503 h 436639"/>
                <a:gd name="csX11" fmla="*/ 240371 w 436639"/>
                <a:gd name="csY11" fmla="*/ 383400 h 436639"/>
                <a:gd name="csX12" fmla="*/ 62377 w 436639"/>
                <a:gd name="csY12" fmla="*/ 205406 h 436639"/>
                <a:gd name="csX13" fmla="*/ 62377 w 436639"/>
                <a:gd name="csY13" fmla="*/ 62377 h 436639"/>
                <a:gd name="csX14" fmla="*/ 205406 w 436639"/>
                <a:gd name="csY14" fmla="*/ 62377 h 436639"/>
                <a:gd name="csX15" fmla="*/ 383400 w 436639"/>
                <a:gd name="csY15" fmla="*/ 240371 h 436639"/>
                <a:gd name="csX16" fmla="*/ 405451 w 436639"/>
                <a:gd name="csY16" fmla="*/ 249509 h 436639"/>
                <a:gd name="csX17" fmla="*/ 427503 w 436639"/>
                <a:gd name="csY17" fmla="*/ 240371 h 436639"/>
                <a:gd name="csX18" fmla="*/ 427503 w 436639"/>
                <a:gd name="csY18" fmla="*/ 196269 h 436639"/>
                <a:gd name="csX19" fmla="*/ 291445 w 436639"/>
                <a:gd name="csY19" fmla="*/ 60211 h 43663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436639" h="436639">
                  <a:moveTo>
                    <a:pt x="291445" y="60211"/>
                  </a:moveTo>
                  <a:cubicBezTo>
                    <a:pt x="303327" y="55810"/>
                    <a:pt x="311886" y="44613"/>
                    <a:pt x="311886" y="31189"/>
                  </a:cubicBezTo>
                  <a:cubicBezTo>
                    <a:pt x="311886" y="13950"/>
                    <a:pt x="297936" y="0"/>
                    <a:pt x="280697" y="0"/>
                  </a:cubicBezTo>
                  <a:lnTo>
                    <a:pt x="31189" y="0"/>
                  </a:lnTo>
                  <a:cubicBezTo>
                    <a:pt x="13950" y="0"/>
                    <a:pt x="0" y="13950"/>
                    <a:pt x="0" y="31189"/>
                  </a:cubicBezTo>
                  <a:lnTo>
                    <a:pt x="0" y="280697"/>
                  </a:lnTo>
                  <a:cubicBezTo>
                    <a:pt x="0" y="297936"/>
                    <a:pt x="13950" y="311886"/>
                    <a:pt x="31189" y="311886"/>
                  </a:cubicBezTo>
                  <a:cubicBezTo>
                    <a:pt x="44613" y="311886"/>
                    <a:pt x="55810" y="303327"/>
                    <a:pt x="60211" y="291445"/>
                  </a:cubicBezTo>
                  <a:lnTo>
                    <a:pt x="196269" y="427503"/>
                  </a:lnTo>
                  <a:cubicBezTo>
                    <a:pt x="202360" y="433594"/>
                    <a:pt x="210340" y="436640"/>
                    <a:pt x="218320" y="436640"/>
                  </a:cubicBezTo>
                  <a:cubicBezTo>
                    <a:pt x="226300" y="436640"/>
                    <a:pt x="234280" y="433594"/>
                    <a:pt x="240371" y="427503"/>
                  </a:cubicBezTo>
                  <a:cubicBezTo>
                    <a:pt x="252554" y="415320"/>
                    <a:pt x="252554" y="395583"/>
                    <a:pt x="240371" y="383400"/>
                  </a:cubicBezTo>
                  <a:lnTo>
                    <a:pt x="62377" y="205406"/>
                  </a:lnTo>
                  <a:lnTo>
                    <a:pt x="62377" y="62377"/>
                  </a:lnTo>
                  <a:lnTo>
                    <a:pt x="205406" y="62377"/>
                  </a:lnTo>
                  <a:lnTo>
                    <a:pt x="383400" y="240371"/>
                  </a:lnTo>
                  <a:cubicBezTo>
                    <a:pt x="389492" y="246463"/>
                    <a:pt x="397471" y="249509"/>
                    <a:pt x="405451" y="249509"/>
                  </a:cubicBezTo>
                  <a:cubicBezTo>
                    <a:pt x="413431" y="249509"/>
                    <a:pt x="421411" y="246463"/>
                    <a:pt x="427503" y="240371"/>
                  </a:cubicBezTo>
                  <a:cubicBezTo>
                    <a:pt x="439686" y="228188"/>
                    <a:pt x="439686" y="208452"/>
                    <a:pt x="427503" y="196269"/>
                  </a:cubicBezTo>
                  <a:lnTo>
                    <a:pt x="291445" y="60211"/>
                  </a:lnTo>
                  <a:close/>
                </a:path>
              </a:pathLst>
            </a:custGeom>
            <a:grpFill/>
            <a:ln w="1027" cap="flat">
              <a:noFill/>
              <a:prstDash val="solid"/>
              <a:miter/>
            </a:ln>
          </p:spPr>
          <p:txBody>
            <a:bodyPr/>
            <a:lstStyle/>
            <a:p>
              <a:endParaRPr lang="en-US"/>
            </a:p>
          </p:txBody>
        </p:sp>
        <p:sp>
          <p:nvSpPr>
            <p:cNvPr id="48" name="Freeform 47">
              <a:extLst>
                <a:ext uri="{FF2B5EF4-FFF2-40B4-BE49-F238E27FC236}">
                  <a16:creationId xmlns:a16="http://schemas.microsoft.com/office/drawing/2014/main" id="{27F5CB64-2EFE-B2AA-000C-A94A060DB825}"/>
                </a:ext>
              </a:extLst>
            </p:cNvPr>
            <p:cNvSpPr/>
            <p:nvPr/>
          </p:nvSpPr>
          <p:spPr>
            <a:xfrm>
              <a:off x="-755598" y="1858949"/>
              <a:ext cx="436639" cy="436639"/>
            </a:xfrm>
            <a:custGeom>
              <a:avLst/>
              <a:gdLst>
                <a:gd name="csX0" fmla="*/ 427503 w 436639"/>
                <a:gd name="csY0" fmla="*/ 196269 h 436639"/>
                <a:gd name="csX1" fmla="*/ 383400 w 436639"/>
                <a:gd name="csY1" fmla="*/ 196269 h 436639"/>
                <a:gd name="csX2" fmla="*/ 205406 w 436639"/>
                <a:gd name="csY2" fmla="*/ 374263 h 436639"/>
                <a:gd name="csX3" fmla="*/ 62377 w 436639"/>
                <a:gd name="csY3" fmla="*/ 374263 h 436639"/>
                <a:gd name="csX4" fmla="*/ 62377 w 436639"/>
                <a:gd name="csY4" fmla="*/ 231234 h 436639"/>
                <a:gd name="csX5" fmla="*/ 240371 w 436639"/>
                <a:gd name="csY5" fmla="*/ 53240 h 436639"/>
                <a:gd name="csX6" fmla="*/ 240371 w 436639"/>
                <a:gd name="csY6" fmla="*/ 9137 h 436639"/>
                <a:gd name="csX7" fmla="*/ 196269 w 436639"/>
                <a:gd name="csY7" fmla="*/ 9137 h 436639"/>
                <a:gd name="csX8" fmla="*/ 60211 w 436639"/>
                <a:gd name="csY8" fmla="*/ 145195 h 436639"/>
                <a:gd name="csX9" fmla="*/ 31189 w 436639"/>
                <a:gd name="csY9" fmla="*/ 124754 h 436639"/>
                <a:gd name="csX10" fmla="*/ 0 w 436639"/>
                <a:gd name="csY10" fmla="*/ 155943 h 436639"/>
                <a:gd name="csX11" fmla="*/ 0 w 436639"/>
                <a:gd name="csY11" fmla="*/ 405451 h 436639"/>
                <a:gd name="csX12" fmla="*/ 31189 w 436639"/>
                <a:gd name="csY12" fmla="*/ 436640 h 436639"/>
                <a:gd name="csX13" fmla="*/ 280697 w 436639"/>
                <a:gd name="csY13" fmla="*/ 436640 h 436639"/>
                <a:gd name="csX14" fmla="*/ 311886 w 436639"/>
                <a:gd name="csY14" fmla="*/ 405451 h 436639"/>
                <a:gd name="csX15" fmla="*/ 291445 w 436639"/>
                <a:gd name="csY15" fmla="*/ 376429 h 436639"/>
                <a:gd name="csX16" fmla="*/ 427503 w 436639"/>
                <a:gd name="csY16" fmla="*/ 240371 h 436639"/>
                <a:gd name="csX17" fmla="*/ 427503 w 436639"/>
                <a:gd name="csY17" fmla="*/ 196269 h 43663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436639" h="436639">
                  <a:moveTo>
                    <a:pt x="427503" y="196269"/>
                  </a:moveTo>
                  <a:cubicBezTo>
                    <a:pt x="415320" y="184086"/>
                    <a:pt x="395583" y="184086"/>
                    <a:pt x="383400" y="196269"/>
                  </a:cubicBezTo>
                  <a:lnTo>
                    <a:pt x="205406" y="374263"/>
                  </a:lnTo>
                  <a:lnTo>
                    <a:pt x="62377" y="374263"/>
                  </a:lnTo>
                  <a:lnTo>
                    <a:pt x="62377" y="231234"/>
                  </a:lnTo>
                  <a:lnTo>
                    <a:pt x="240371" y="53240"/>
                  </a:lnTo>
                  <a:cubicBezTo>
                    <a:pt x="252554" y="41057"/>
                    <a:pt x="252554" y="21320"/>
                    <a:pt x="240371" y="9137"/>
                  </a:cubicBezTo>
                  <a:cubicBezTo>
                    <a:pt x="228188" y="-3046"/>
                    <a:pt x="208452" y="-3046"/>
                    <a:pt x="196269" y="9137"/>
                  </a:cubicBezTo>
                  <a:lnTo>
                    <a:pt x="60211" y="145195"/>
                  </a:lnTo>
                  <a:cubicBezTo>
                    <a:pt x="55810" y="133313"/>
                    <a:pt x="44613" y="124754"/>
                    <a:pt x="31189" y="124754"/>
                  </a:cubicBezTo>
                  <a:cubicBezTo>
                    <a:pt x="13950" y="124754"/>
                    <a:pt x="0" y="138704"/>
                    <a:pt x="0" y="155943"/>
                  </a:cubicBezTo>
                  <a:lnTo>
                    <a:pt x="0" y="405451"/>
                  </a:lnTo>
                  <a:cubicBezTo>
                    <a:pt x="0" y="422690"/>
                    <a:pt x="13950" y="436640"/>
                    <a:pt x="31189" y="436640"/>
                  </a:cubicBezTo>
                  <a:lnTo>
                    <a:pt x="280697" y="436640"/>
                  </a:lnTo>
                  <a:cubicBezTo>
                    <a:pt x="297936" y="436640"/>
                    <a:pt x="311886" y="422690"/>
                    <a:pt x="311886" y="405451"/>
                  </a:cubicBezTo>
                  <a:cubicBezTo>
                    <a:pt x="311886" y="392027"/>
                    <a:pt x="303327" y="380830"/>
                    <a:pt x="291445" y="376429"/>
                  </a:cubicBezTo>
                  <a:lnTo>
                    <a:pt x="427503" y="240371"/>
                  </a:lnTo>
                  <a:cubicBezTo>
                    <a:pt x="439686" y="228188"/>
                    <a:pt x="439686" y="208452"/>
                    <a:pt x="427503" y="196269"/>
                  </a:cubicBezTo>
                  <a:close/>
                </a:path>
              </a:pathLst>
            </a:custGeom>
            <a:grpFill/>
            <a:ln w="1027" cap="flat">
              <a:noFill/>
              <a:prstDash val="solid"/>
              <a:miter/>
            </a:ln>
          </p:spPr>
          <p:txBody>
            <a:bodyPr/>
            <a:lstStyle/>
            <a:p>
              <a:endParaRPr lang="en-US"/>
            </a:p>
          </p:txBody>
        </p:sp>
        <p:sp>
          <p:nvSpPr>
            <p:cNvPr id="49" name="Freeform 48">
              <a:extLst>
                <a:ext uri="{FF2B5EF4-FFF2-40B4-BE49-F238E27FC236}">
                  <a16:creationId xmlns:a16="http://schemas.microsoft.com/office/drawing/2014/main" id="{628C8909-F3F7-60AA-EF8E-EE1DCA531007}"/>
                </a:ext>
              </a:extLst>
            </p:cNvPr>
            <p:cNvSpPr/>
            <p:nvPr/>
          </p:nvSpPr>
          <p:spPr>
            <a:xfrm>
              <a:off x="-2127895" y="1858949"/>
              <a:ext cx="436639" cy="436639"/>
            </a:xfrm>
            <a:custGeom>
              <a:avLst/>
              <a:gdLst>
                <a:gd name="csX0" fmla="*/ 145195 w 436639"/>
                <a:gd name="csY0" fmla="*/ 376429 h 436639"/>
                <a:gd name="csX1" fmla="*/ 124754 w 436639"/>
                <a:gd name="csY1" fmla="*/ 405451 h 436639"/>
                <a:gd name="csX2" fmla="*/ 155943 w 436639"/>
                <a:gd name="csY2" fmla="*/ 436640 h 436639"/>
                <a:gd name="csX3" fmla="*/ 405451 w 436639"/>
                <a:gd name="csY3" fmla="*/ 436640 h 436639"/>
                <a:gd name="csX4" fmla="*/ 436640 w 436639"/>
                <a:gd name="csY4" fmla="*/ 405451 h 436639"/>
                <a:gd name="csX5" fmla="*/ 436640 w 436639"/>
                <a:gd name="csY5" fmla="*/ 155943 h 436639"/>
                <a:gd name="csX6" fmla="*/ 405451 w 436639"/>
                <a:gd name="csY6" fmla="*/ 124754 h 436639"/>
                <a:gd name="csX7" fmla="*/ 376429 w 436639"/>
                <a:gd name="csY7" fmla="*/ 145195 h 436639"/>
                <a:gd name="csX8" fmla="*/ 240371 w 436639"/>
                <a:gd name="csY8" fmla="*/ 9137 h 436639"/>
                <a:gd name="csX9" fmla="*/ 196269 w 436639"/>
                <a:gd name="csY9" fmla="*/ 9137 h 436639"/>
                <a:gd name="csX10" fmla="*/ 196269 w 436639"/>
                <a:gd name="csY10" fmla="*/ 53240 h 436639"/>
                <a:gd name="csX11" fmla="*/ 374263 w 436639"/>
                <a:gd name="csY11" fmla="*/ 231234 h 436639"/>
                <a:gd name="csX12" fmla="*/ 374263 w 436639"/>
                <a:gd name="csY12" fmla="*/ 374263 h 436639"/>
                <a:gd name="csX13" fmla="*/ 231234 w 436639"/>
                <a:gd name="csY13" fmla="*/ 374263 h 436639"/>
                <a:gd name="csX14" fmla="*/ 53240 w 436639"/>
                <a:gd name="csY14" fmla="*/ 196269 h 436639"/>
                <a:gd name="csX15" fmla="*/ 9137 w 436639"/>
                <a:gd name="csY15" fmla="*/ 196269 h 436639"/>
                <a:gd name="csX16" fmla="*/ 9137 w 436639"/>
                <a:gd name="csY16" fmla="*/ 240371 h 436639"/>
                <a:gd name="csX17" fmla="*/ 145195 w 436639"/>
                <a:gd name="csY17" fmla="*/ 376429 h 43663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436639" h="436639">
                  <a:moveTo>
                    <a:pt x="145195" y="376429"/>
                  </a:moveTo>
                  <a:cubicBezTo>
                    <a:pt x="133313" y="380830"/>
                    <a:pt x="124754" y="392027"/>
                    <a:pt x="124754" y="405451"/>
                  </a:cubicBezTo>
                  <a:cubicBezTo>
                    <a:pt x="124754" y="422690"/>
                    <a:pt x="138704" y="436640"/>
                    <a:pt x="155943" y="436640"/>
                  </a:cubicBezTo>
                  <a:lnTo>
                    <a:pt x="405451" y="436640"/>
                  </a:lnTo>
                  <a:cubicBezTo>
                    <a:pt x="422690" y="436640"/>
                    <a:pt x="436640" y="422690"/>
                    <a:pt x="436640" y="405451"/>
                  </a:cubicBezTo>
                  <a:lnTo>
                    <a:pt x="436640" y="155943"/>
                  </a:lnTo>
                  <a:cubicBezTo>
                    <a:pt x="436640" y="138704"/>
                    <a:pt x="422690" y="124754"/>
                    <a:pt x="405451" y="124754"/>
                  </a:cubicBezTo>
                  <a:cubicBezTo>
                    <a:pt x="392027" y="124754"/>
                    <a:pt x="380830" y="133313"/>
                    <a:pt x="376429" y="145195"/>
                  </a:cubicBezTo>
                  <a:lnTo>
                    <a:pt x="240371" y="9137"/>
                  </a:lnTo>
                  <a:cubicBezTo>
                    <a:pt x="228188" y="-3046"/>
                    <a:pt x="208452" y="-3046"/>
                    <a:pt x="196269" y="9137"/>
                  </a:cubicBezTo>
                  <a:cubicBezTo>
                    <a:pt x="184086" y="21320"/>
                    <a:pt x="184086" y="41057"/>
                    <a:pt x="196269" y="53240"/>
                  </a:cubicBezTo>
                  <a:lnTo>
                    <a:pt x="374263" y="231234"/>
                  </a:lnTo>
                  <a:lnTo>
                    <a:pt x="374263" y="374263"/>
                  </a:lnTo>
                  <a:lnTo>
                    <a:pt x="231234" y="374263"/>
                  </a:lnTo>
                  <a:lnTo>
                    <a:pt x="53240" y="196269"/>
                  </a:lnTo>
                  <a:cubicBezTo>
                    <a:pt x="41057" y="184086"/>
                    <a:pt x="21320" y="184086"/>
                    <a:pt x="9137" y="196269"/>
                  </a:cubicBezTo>
                  <a:cubicBezTo>
                    <a:pt x="-3046" y="208452"/>
                    <a:pt x="-3046" y="228188"/>
                    <a:pt x="9137" y="240371"/>
                  </a:cubicBezTo>
                  <a:lnTo>
                    <a:pt x="145195" y="376429"/>
                  </a:lnTo>
                  <a:close/>
                </a:path>
              </a:pathLst>
            </a:custGeom>
            <a:grpFill/>
            <a:ln w="1027" cap="flat">
              <a:noFill/>
              <a:prstDash val="solid"/>
              <a:miter/>
            </a:ln>
          </p:spPr>
          <p:txBody>
            <a:bodyPr/>
            <a:lstStyle/>
            <a:p>
              <a:endParaRPr lang="en-US"/>
            </a:p>
          </p:txBody>
        </p:sp>
        <p:sp>
          <p:nvSpPr>
            <p:cNvPr id="50" name="Freeform 49">
              <a:extLst>
                <a:ext uri="{FF2B5EF4-FFF2-40B4-BE49-F238E27FC236}">
                  <a16:creationId xmlns:a16="http://schemas.microsoft.com/office/drawing/2014/main" id="{02102165-B653-8541-D1CF-E2AC7D8B36B5}"/>
                </a:ext>
              </a:extLst>
            </p:cNvPr>
            <p:cNvSpPr/>
            <p:nvPr/>
          </p:nvSpPr>
          <p:spPr>
            <a:xfrm>
              <a:off x="-1566501" y="2482720"/>
              <a:ext cx="686148" cy="561394"/>
            </a:xfrm>
            <a:custGeom>
              <a:avLst/>
              <a:gdLst>
                <a:gd name="csX0" fmla="*/ 508116 w 686148"/>
                <a:gd name="csY0" fmla="*/ 133930 h 561394"/>
                <a:gd name="csX1" fmla="*/ 405451 w 686148"/>
                <a:gd name="csY1" fmla="*/ 236594 h 561394"/>
                <a:gd name="csX2" fmla="*/ 365164 w 686148"/>
                <a:gd name="csY2" fmla="*/ 196307 h 561394"/>
                <a:gd name="csX3" fmla="*/ 365087 w 686148"/>
                <a:gd name="csY3" fmla="*/ 196231 h 561394"/>
                <a:gd name="csX4" fmla="*/ 302748 w 686148"/>
                <a:gd name="csY4" fmla="*/ 133892 h 561394"/>
                <a:gd name="csX5" fmla="*/ 258646 w 686148"/>
                <a:gd name="csY5" fmla="*/ 133892 h 561394"/>
                <a:gd name="csX6" fmla="*/ 133930 w 686148"/>
                <a:gd name="csY6" fmla="*/ 258608 h 561394"/>
                <a:gd name="csX7" fmla="*/ 133853 w 686148"/>
                <a:gd name="csY7" fmla="*/ 258684 h 561394"/>
                <a:gd name="csX8" fmla="*/ 9137 w 686148"/>
                <a:gd name="csY8" fmla="*/ 383400 h 561394"/>
                <a:gd name="csX9" fmla="*/ 9137 w 686148"/>
                <a:gd name="csY9" fmla="*/ 427503 h 561394"/>
                <a:gd name="csX10" fmla="*/ 31189 w 686148"/>
                <a:gd name="csY10" fmla="*/ 436640 h 561394"/>
                <a:gd name="csX11" fmla="*/ 53240 w 686148"/>
                <a:gd name="csY11" fmla="*/ 427503 h 561394"/>
                <a:gd name="csX12" fmla="*/ 124754 w 686148"/>
                <a:gd name="csY12" fmla="*/ 355988 h 561394"/>
                <a:gd name="csX13" fmla="*/ 124754 w 686148"/>
                <a:gd name="csY13" fmla="*/ 499017 h 561394"/>
                <a:gd name="csX14" fmla="*/ 31189 w 686148"/>
                <a:gd name="csY14" fmla="*/ 499017 h 561394"/>
                <a:gd name="csX15" fmla="*/ 0 w 686148"/>
                <a:gd name="csY15" fmla="*/ 530206 h 561394"/>
                <a:gd name="csX16" fmla="*/ 31189 w 686148"/>
                <a:gd name="csY16" fmla="*/ 561394 h 561394"/>
                <a:gd name="csX17" fmla="*/ 654960 w 686148"/>
                <a:gd name="csY17" fmla="*/ 561394 h 561394"/>
                <a:gd name="csX18" fmla="*/ 686148 w 686148"/>
                <a:gd name="csY18" fmla="*/ 530206 h 561394"/>
                <a:gd name="csX19" fmla="*/ 654960 w 686148"/>
                <a:gd name="csY19" fmla="*/ 499017 h 561394"/>
                <a:gd name="csX20" fmla="*/ 561394 w 686148"/>
                <a:gd name="csY20" fmla="*/ 499017 h 561394"/>
                <a:gd name="csX21" fmla="*/ 561394 w 686148"/>
                <a:gd name="csY21" fmla="*/ 168857 h 561394"/>
                <a:gd name="csX22" fmla="*/ 623771 w 686148"/>
                <a:gd name="csY22" fmla="*/ 106480 h 561394"/>
                <a:gd name="csX23" fmla="*/ 623771 w 686148"/>
                <a:gd name="csY23" fmla="*/ 155943 h 561394"/>
                <a:gd name="csX24" fmla="*/ 654960 w 686148"/>
                <a:gd name="csY24" fmla="*/ 187131 h 561394"/>
                <a:gd name="csX25" fmla="*/ 686148 w 686148"/>
                <a:gd name="csY25" fmla="*/ 155943 h 561394"/>
                <a:gd name="csX26" fmla="*/ 686148 w 686148"/>
                <a:gd name="csY26" fmla="*/ 31189 h 561394"/>
                <a:gd name="csX27" fmla="*/ 683750 w 686148"/>
                <a:gd name="csY27" fmla="*/ 19280 h 561394"/>
                <a:gd name="csX28" fmla="*/ 666869 w 686148"/>
                <a:gd name="csY28" fmla="*/ 2399 h 561394"/>
                <a:gd name="csX29" fmla="*/ 654960 w 686148"/>
                <a:gd name="csY29" fmla="*/ 0 h 561394"/>
                <a:gd name="csX30" fmla="*/ 530206 w 686148"/>
                <a:gd name="csY30" fmla="*/ 0 h 561394"/>
                <a:gd name="csX31" fmla="*/ 499017 w 686148"/>
                <a:gd name="csY31" fmla="*/ 31189 h 561394"/>
                <a:gd name="csX32" fmla="*/ 530206 w 686148"/>
                <a:gd name="csY32" fmla="*/ 62377 h 561394"/>
                <a:gd name="csX33" fmla="*/ 579669 w 686148"/>
                <a:gd name="csY33" fmla="*/ 62377 h 561394"/>
                <a:gd name="csX34" fmla="*/ 508192 w 686148"/>
                <a:gd name="csY34" fmla="*/ 133853 h 561394"/>
                <a:gd name="csX35" fmla="*/ 508116 w 686148"/>
                <a:gd name="csY35" fmla="*/ 133930 h 561394"/>
                <a:gd name="csX36" fmla="*/ 187131 w 686148"/>
                <a:gd name="csY36" fmla="*/ 293611 h 561394"/>
                <a:gd name="csX37" fmla="*/ 280697 w 686148"/>
                <a:gd name="csY37" fmla="*/ 200045 h 561394"/>
                <a:gd name="csX38" fmla="*/ 311886 w 686148"/>
                <a:gd name="csY38" fmla="*/ 231234 h 561394"/>
                <a:gd name="csX39" fmla="*/ 311886 w 686148"/>
                <a:gd name="csY39" fmla="*/ 499017 h 561394"/>
                <a:gd name="csX40" fmla="*/ 187131 w 686148"/>
                <a:gd name="csY40" fmla="*/ 499017 h 561394"/>
                <a:gd name="csX41" fmla="*/ 187131 w 686148"/>
                <a:gd name="csY41" fmla="*/ 293611 h 561394"/>
                <a:gd name="csX42" fmla="*/ 499017 w 686148"/>
                <a:gd name="csY42" fmla="*/ 499017 h 561394"/>
                <a:gd name="csX43" fmla="*/ 374263 w 686148"/>
                <a:gd name="csY43" fmla="*/ 499017 h 561394"/>
                <a:gd name="csX44" fmla="*/ 374263 w 686148"/>
                <a:gd name="csY44" fmla="*/ 293611 h 561394"/>
                <a:gd name="csX45" fmla="*/ 383400 w 686148"/>
                <a:gd name="csY45" fmla="*/ 302748 h 561394"/>
                <a:gd name="csX46" fmla="*/ 427503 w 686148"/>
                <a:gd name="csY46" fmla="*/ 302748 h 561394"/>
                <a:gd name="csX47" fmla="*/ 499017 w 686148"/>
                <a:gd name="csY47" fmla="*/ 231234 h 561394"/>
                <a:gd name="csX48" fmla="*/ 499017 w 686148"/>
                <a:gd name="csY48" fmla="*/ 499017 h 5613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Lst>
              <a:rect l="l" t="t" r="r" b="b"/>
              <a:pathLst>
                <a:path w="686148" h="561394">
                  <a:moveTo>
                    <a:pt x="508116" y="133930"/>
                  </a:moveTo>
                  <a:lnTo>
                    <a:pt x="405451" y="236594"/>
                  </a:lnTo>
                  <a:lnTo>
                    <a:pt x="365164" y="196307"/>
                  </a:lnTo>
                  <a:lnTo>
                    <a:pt x="365087" y="196231"/>
                  </a:lnTo>
                  <a:lnTo>
                    <a:pt x="302748" y="133892"/>
                  </a:lnTo>
                  <a:cubicBezTo>
                    <a:pt x="290565" y="121708"/>
                    <a:pt x="270829" y="121708"/>
                    <a:pt x="258646" y="133892"/>
                  </a:cubicBezTo>
                  <a:lnTo>
                    <a:pt x="133930" y="258608"/>
                  </a:lnTo>
                  <a:lnTo>
                    <a:pt x="133853" y="258684"/>
                  </a:lnTo>
                  <a:lnTo>
                    <a:pt x="9137" y="383400"/>
                  </a:lnTo>
                  <a:cubicBezTo>
                    <a:pt x="-3046" y="395583"/>
                    <a:pt x="-3046" y="415320"/>
                    <a:pt x="9137" y="427503"/>
                  </a:cubicBezTo>
                  <a:cubicBezTo>
                    <a:pt x="15229" y="433594"/>
                    <a:pt x="23209" y="436640"/>
                    <a:pt x="31189" y="436640"/>
                  </a:cubicBezTo>
                  <a:cubicBezTo>
                    <a:pt x="39168" y="436640"/>
                    <a:pt x="47148" y="433594"/>
                    <a:pt x="53240" y="427503"/>
                  </a:cubicBezTo>
                  <a:lnTo>
                    <a:pt x="124754" y="355988"/>
                  </a:lnTo>
                  <a:lnTo>
                    <a:pt x="124754" y="499017"/>
                  </a:lnTo>
                  <a:lnTo>
                    <a:pt x="31189" y="499017"/>
                  </a:lnTo>
                  <a:cubicBezTo>
                    <a:pt x="13950" y="499017"/>
                    <a:pt x="0" y="512967"/>
                    <a:pt x="0" y="530206"/>
                  </a:cubicBezTo>
                  <a:cubicBezTo>
                    <a:pt x="0" y="547445"/>
                    <a:pt x="13950" y="561394"/>
                    <a:pt x="31189" y="561394"/>
                  </a:cubicBezTo>
                  <a:lnTo>
                    <a:pt x="654960" y="561394"/>
                  </a:lnTo>
                  <a:cubicBezTo>
                    <a:pt x="672199" y="561394"/>
                    <a:pt x="686148" y="547445"/>
                    <a:pt x="686148" y="530206"/>
                  </a:cubicBezTo>
                  <a:cubicBezTo>
                    <a:pt x="686148" y="512967"/>
                    <a:pt x="672199" y="499017"/>
                    <a:pt x="654960" y="499017"/>
                  </a:cubicBezTo>
                  <a:lnTo>
                    <a:pt x="561394" y="499017"/>
                  </a:lnTo>
                  <a:lnTo>
                    <a:pt x="561394" y="168857"/>
                  </a:lnTo>
                  <a:lnTo>
                    <a:pt x="623771" y="106480"/>
                  </a:lnTo>
                  <a:lnTo>
                    <a:pt x="623771" y="155943"/>
                  </a:lnTo>
                  <a:cubicBezTo>
                    <a:pt x="623771" y="173182"/>
                    <a:pt x="637721" y="187131"/>
                    <a:pt x="654960" y="187131"/>
                  </a:cubicBezTo>
                  <a:cubicBezTo>
                    <a:pt x="672199" y="187131"/>
                    <a:pt x="686148" y="173182"/>
                    <a:pt x="686148" y="155943"/>
                  </a:cubicBezTo>
                  <a:lnTo>
                    <a:pt x="686148" y="31189"/>
                  </a:lnTo>
                  <a:cubicBezTo>
                    <a:pt x="686148" y="27130"/>
                    <a:pt x="685326" y="23091"/>
                    <a:pt x="683750" y="19280"/>
                  </a:cubicBezTo>
                  <a:cubicBezTo>
                    <a:pt x="680590" y="11642"/>
                    <a:pt x="674506" y="5559"/>
                    <a:pt x="666869" y="2399"/>
                  </a:cubicBezTo>
                  <a:cubicBezTo>
                    <a:pt x="663058" y="822"/>
                    <a:pt x="659018" y="0"/>
                    <a:pt x="654960" y="0"/>
                  </a:cubicBezTo>
                  <a:lnTo>
                    <a:pt x="530206" y="0"/>
                  </a:lnTo>
                  <a:cubicBezTo>
                    <a:pt x="512967" y="0"/>
                    <a:pt x="499017" y="13950"/>
                    <a:pt x="499017" y="31189"/>
                  </a:cubicBezTo>
                  <a:cubicBezTo>
                    <a:pt x="499017" y="48428"/>
                    <a:pt x="512967" y="62377"/>
                    <a:pt x="530206" y="62377"/>
                  </a:cubicBezTo>
                  <a:lnTo>
                    <a:pt x="579669" y="62377"/>
                  </a:lnTo>
                  <a:lnTo>
                    <a:pt x="508192" y="133853"/>
                  </a:lnTo>
                  <a:lnTo>
                    <a:pt x="508116" y="133930"/>
                  </a:lnTo>
                  <a:close/>
                  <a:moveTo>
                    <a:pt x="187131" y="293611"/>
                  </a:moveTo>
                  <a:lnTo>
                    <a:pt x="280697" y="200045"/>
                  </a:lnTo>
                  <a:lnTo>
                    <a:pt x="311886" y="231234"/>
                  </a:lnTo>
                  <a:lnTo>
                    <a:pt x="311886" y="499017"/>
                  </a:lnTo>
                  <a:lnTo>
                    <a:pt x="187131" y="499017"/>
                  </a:lnTo>
                  <a:lnTo>
                    <a:pt x="187131" y="293611"/>
                  </a:lnTo>
                  <a:close/>
                  <a:moveTo>
                    <a:pt x="499017" y="499017"/>
                  </a:moveTo>
                  <a:lnTo>
                    <a:pt x="374263" y="499017"/>
                  </a:lnTo>
                  <a:lnTo>
                    <a:pt x="374263" y="293611"/>
                  </a:lnTo>
                  <a:lnTo>
                    <a:pt x="383400" y="302748"/>
                  </a:lnTo>
                  <a:cubicBezTo>
                    <a:pt x="395583" y="314931"/>
                    <a:pt x="415320" y="314931"/>
                    <a:pt x="427503" y="302748"/>
                  </a:cubicBezTo>
                  <a:lnTo>
                    <a:pt x="499017" y="231234"/>
                  </a:lnTo>
                  <a:lnTo>
                    <a:pt x="499017" y="499017"/>
                  </a:lnTo>
                  <a:close/>
                </a:path>
              </a:pathLst>
            </a:custGeom>
            <a:grpFill/>
            <a:ln w="1027" cap="flat">
              <a:noFill/>
              <a:prstDash val="solid"/>
              <a:miter/>
            </a:ln>
          </p:spPr>
          <p:txBody>
            <a:bodyPr/>
            <a:lstStyle/>
            <a:p>
              <a:endParaRPr lang="en-US"/>
            </a:p>
          </p:txBody>
        </p:sp>
        <p:sp>
          <p:nvSpPr>
            <p:cNvPr id="51" name="Freeform 50">
              <a:extLst>
                <a:ext uri="{FF2B5EF4-FFF2-40B4-BE49-F238E27FC236}">
                  <a16:creationId xmlns:a16="http://schemas.microsoft.com/office/drawing/2014/main" id="{F2ADDBD5-320A-A82E-E648-3024E00B0B3C}"/>
                </a:ext>
              </a:extLst>
            </p:cNvPr>
            <p:cNvSpPr/>
            <p:nvPr/>
          </p:nvSpPr>
          <p:spPr>
            <a:xfrm>
              <a:off x="-1651581" y="2335263"/>
              <a:ext cx="62378" cy="62375"/>
            </a:xfrm>
            <a:custGeom>
              <a:avLst/>
              <a:gdLst>
                <a:gd name="csX0" fmla="*/ 9134 w 62378"/>
                <a:gd name="csY0" fmla="*/ 53241 h 62375"/>
                <a:gd name="csX1" fmla="*/ 53241 w 62378"/>
                <a:gd name="csY1" fmla="*/ 53241 h 62375"/>
                <a:gd name="csX2" fmla="*/ 53241 w 62378"/>
                <a:gd name="csY2" fmla="*/ 9134 h 62375"/>
                <a:gd name="csX3" fmla="*/ 9134 w 62378"/>
                <a:gd name="csY3" fmla="*/ 9134 h 62375"/>
                <a:gd name="csX4" fmla="*/ 9134 w 62378"/>
                <a:gd name="csY4" fmla="*/ 53241 h 62375"/>
              </a:gdLst>
              <a:ahLst/>
              <a:cxnLst>
                <a:cxn ang="0">
                  <a:pos x="csX0" y="csY0"/>
                </a:cxn>
                <a:cxn ang="0">
                  <a:pos x="csX1" y="csY1"/>
                </a:cxn>
                <a:cxn ang="0">
                  <a:pos x="csX2" y="csY2"/>
                </a:cxn>
                <a:cxn ang="0">
                  <a:pos x="csX3" y="csY3"/>
                </a:cxn>
                <a:cxn ang="0">
                  <a:pos x="csX4" y="csY4"/>
                </a:cxn>
              </a:cxnLst>
              <a:rect l="l" t="t" r="r" b="b"/>
              <a:pathLst>
                <a:path w="62378" h="62375">
                  <a:moveTo>
                    <a:pt x="9134" y="53241"/>
                  </a:moveTo>
                  <a:cubicBezTo>
                    <a:pt x="21314" y="65420"/>
                    <a:pt x="41062" y="65420"/>
                    <a:pt x="53241" y="53241"/>
                  </a:cubicBezTo>
                  <a:cubicBezTo>
                    <a:pt x="65424" y="41062"/>
                    <a:pt x="65424" y="21314"/>
                    <a:pt x="53241" y="9134"/>
                  </a:cubicBezTo>
                  <a:cubicBezTo>
                    <a:pt x="41062" y="-3045"/>
                    <a:pt x="21314" y="-3045"/>
                    <a:pt x="9134" y="9134"/>
                  </a:cubicBezTo>
                  <a:cubicBezTo>
                    <a:pt x="-3045" y="21314"/>
                    <a:pt x="-3045" y="41062"/>
                    <a:pt x="9134" y="53241"/>
                  </a:cubicBezTo>
                  <a:close/>
                </a:path>
              </a:pathLst>
            </a:custGeom>
            <a:grpFill/>
            <a:ln w="1027" cap="flat">
              <a:noFill/>
              <a:prstDash val="solid"/>
              <a:miter/>
            </a:ln>
          </p:spPr>
          <p:txBody>
            <a:bodyPr/>
            <a:lstStyle/>
            <a:p>
              <a:endParaRPr lang="en-US"/>
            </a:p>
          </p:txBody>
        </p:sp>
      </p:grpSp>
      <p:sp>
        <p:nvSpPr>
          <p:cNvPr id="26" name="TextBox 25">
            <a:extLst>
              <a:ext uri="{FF2B5EF4-FFF2-40B4-BE49-F238E27FC236}">
                <a16:creationId xmlns:a16="http://schemas.microsoft.com/office/drawing/2014/main" id="{7A482C20-7693-37B5-9490-491027E86A29}"/>
              </a:ext>
            </a:extLst>
          </p:cNvPr>
          <p:cNvSpPr txBox="1"/>
          <p:nvPr/>
        </p:nvSpPr>
        <p:spPr>
          <a:xfrm>
            <a:off x="587548" y="342238"/>
            <a:ext cx="10267200" cy="369332"/>
          </a:xfrm>
          <a:prstGeom prst="rect">
            <a:avLst/>
          </a:prstGeom>
          <a:noFill/>
        </p:spPr>
        <p:txBody>
          <a:bodyPr wrap="square" lIns="0" tIns="0" rIns="0" bIns="0" rtlCol="0">
            <a:spAutoFit/>
          </a:bodyPr>
          <a:lstStyle/>
          <a:p>
            <a:r>
              <a:rPr lang="en-US" sz="2400" b="1" dirty="0">
                <a:gradFill flip="none" rotWithShape="1">
                  <a:gsLst>
                    <a:gs pos="62000">
                      <a:srgbClr val="F28364"/>
                    </a:gs>
                    <a:gs pos="30000">
                      <a:srgbClr val="B62A99"/>
                    </a:gs>
                    <a:gs pos="0">
                      <a:srgbClr val="4B0372"/>
                    </a:gs>
                    <a:gs pos="100000">
                      <a:srgbClr val="BE59D8"/>
                    </a:gs>
                  </a:gsLst>
                  <a:lin ang="0" scaled="1"/>
                  <a:tileRect/>
                </a:gradFill>
                <a:latin typeface="Graphik" panose="020B0503030202060203" pitchFamily="34" charset="77"/>
              </a:rPr>
              <a:t>Global MES Support Transformation for Client</a:t>
            </a:r>
          </a:p>
        </p:txBody>
      </p:sp>
      <p:sp>
        <p:nvSpPr>
          <p:cNvPr id="27" name="TextBox 26">
            <a:extLst>
              <a:ext uri="{FF2B5EF4-FFF2-40B4-BE49-F238E27FC236}">
                <a16:creationId xmlns:a16="http://schemas.microsoft.com/office/drawing/2014/main" id="{C769B8C6-D0F7-D3CD-ADDE-AF4C829DE798}"/>
              </a:ext>
            </a:extLst>
          </p:cNvPr>
          <p:cNvSpPr txBox="1"/>
          <p:nvPr/>
        </p:nvSpPr>
        <p:spPr>
          <a:xfrm>
            <a:off x="601367" y="210546"/>
            <a:ext cx="1950855" cy="153888"/>
          </a:xfrm>
          <a:prstGeom prst="rect">
            <a:avLst/>
          </a:prstGeom>
          <a:noFill/>
        </p:spPr>
        <p:txBody>
          <a:bodyPr wrap="none" lIns="0" tIns="0" rIns="0" bIns="0" rtlCol="0">
            <a:spAutoFit/>
          </a:bodyPr>
          <a:lstStyle/>
          <a:p>
            <a:r>
              <a:rPr lang="en-US" sz="1000" dirty="0">
                <a:solidFill>
                  <a:schemeClr val="tx1">
                    <a:lumMod val="65000"/>
                    <a:lumOff val="35000"/>
                  </a:schemeClr>
                </a:solidFill>
                <a:latin typeface="Graphik Medium" panose="020B0503030202060203" pitchFamily="34" charset="77"/>
              </a:rPr>
              <a:t>Life Sciences - Pharmaceuticals</a:t>
            </a:r>
          </a:p>
        </p:txBody>
      </p:sp>
      <p:sp>
        <p:nvSpPr>
          <p:cNvPr id="28" name="Text Placeholder 10">
            <a:extLst>
              <a:ext uri="{FF2B5EF4-FFF2-40B4-BE49-F238E27FC236}">
                <a16:creationId xmlns:a16="http://schemas.microsoft.com/office/drawing/2014/main" id="{07FA7D0B-C283-B67C-B715-A5C392A289D8}"/>
              </a:ext>
            </a:extLst>
          </p:cNvPr>
          <p:cNvSpPr txBox="1">
            <a:spLocks/>
          </p:cNvSpPr>
          <p:nvPr/>
        </p:nvSpPr>
        <p:spPr>
          <a:xfrm>
            <a:off x="610383" y="752578"/>
            <a:ext cx="11169192" cy="501988"/>
          </a:xfrm>
          <a:prstGeom prst="rect">
            <a:avLst/>
          </a:prstGeom>
        </p:spPr>
        <p:txBody>
          <a:bodyPr vert="horz" lIns="0" tIns="0" rIns="0" bIns="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050" dirty="0">
                <a:solidFill>
                  <a:schemeClr val="tx1"/>
                </a:solidFill>
                <a:latin typeface="Graphik Medium" panose="020B0503030202060203" pitchFamily="34" charset="77"/>
              </a:rPr>
              <a:t>Accenture modernized and unified Client’s highly fragmented PAS‑X MES landscape across 34 global sites by establishing a centralized, ITIL‑aligned support model. The engagement strengthened production reliability, reduced operational dependency, and enabled scalable MES lifecycle management across the global network.</a:t>
            </a:r>
          </a:p>
        </p:txBody>
      </p:sp>
      <p:sp>
        <p:nvSpPr>
          <p:cNvPr id="9" name="Rectangle 8">
            <a:extLst>
              <a:ext uri="{FF2B5EF4-FFF2-40B4-BE49-F238E27FC236}">
                <a16:creationId xmlns:a16="http://schemas.microsoft.com/office/drawing/2014/main" id="{A2DE5340-FD51-02F5-94C8-0B14C6D8E6EF}"/>
              </a:ext>
            </a:extLst>
          </p:cNvPr>
          <p:cNvSpPr/>
          <p:nvPr/>
        </p:nvSpPr>
        <p:spPr>
          <a:xfrm>
            <a:off x="8519160" y="2626987"/>
            <a:ext cx="3253733" cy="3164213"/>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&lt;Add Relevant Image&gt;</a:t>
            </a:r>
          </a:p>
        </p:txBody>
      </p:sp>
      <p:sp>
        <p:nvSpPr>
          <p:cNvPr id="13" name="TextBox 12">
            <a:extLst>
              <a:ext uri="{FF2B5EF4-FFF2-40B4-BE49-F238E27FC236}">
                <a16:creationId xmlns:a16="http://schemas.microsoft.com/office/drawing/2014/main" id="{A12ED52C-7B8C-BFE5-C854-D6292C89ECEA}"/>
              </a:ext>
            </a:extLst>
          </p:cNvPr>
          <p:cNvSpPr txBox="1"/>
          <p:nvPr/>
        </p:nvSpPr>
        <p:spPr>
          <a:xfrm>
            <a:off x="5396312" y="3896417"/>
            <a:ext cx="2824315" cy="2831544"/>
          </a:xfrm>
          <a:prstGeom prst="rect">
            <a:avLst/>
          </a:prstGeom>
          <a:noFill/>
        </p:spPr>
        <p:txBody>
          <a:bodyPr wrap="square" lIns="0" tIns="0" rIns="0" bIns="0" rtlCol="0">
            <a:spAutoFit/>
          </a:bodyPr>
          <a:lstStyle/>
          <a:p>
            <a:r>
              <a:rPr lang="en-US" sz="900" b="1" dirty="0">
                <a:latin typeface="Graphik Semibold" panose="020B0503030202060203" pitchFamily="34" charset="77"/>
              </a:rPr>
              <a:t>Zero downtime for MES users,</a:t>
            </a:r>
            <a:r>
              <a:rPr lang="en-US" sz="900" b="1" dirty="0">
                <a:latin typeface="Graphik" panose="020B0503030202060203" pitchFamily="34" charset="0"/>
              </a:rPr>
              <a:t> </a:t>
            </a:r>
            <a:r>
              <a:rPr lang="en-US" sz="900" dirty="0">
                <a:latin typeface="Graphik" panose="020B0503030202060203" pitchFamily="34" charset="0"/>
              </a:rPr>
              <a:t>the unified support model and proactive monitoring eliminated production interruptions across all 34 PAS‑X sites. Standardized processes and improved service governance ensured predictable system behavior and uninterrupted manufacturing operations.</a:t>
            </a:r>
            <a:endParaRPr lang="en-IN" sz="900" dirty="0">
              <a:latin typeface="Graphik" panose="020B0503030202060203" pitchFamily="34" charset="0"/>
            </a:endParaRPr>
          </a:p>
          <a:p>
            <a:endParaRPr lang="en-IN" sz="1000" dirty="0">
              <a:latin typeface="Graphik" panose="020B0503030202060203" pitchFamily="34" charset="0"/>
            </a:endParaRPr>
          </a:p>
          <a:p>
            <a:r>
              <a:rPr lang="en-US" sz="900" b="1" dirty="0">
                <a:latin typeface="Graphik Semibold" panose="020B0503030202060203" pitchFamily="34" charset="77"/>
              </a:rPr>
              <a:t>30% reduction in critical incidents</a:t>
            </a:r>
            <a:r>
              <a:rPr lang="en-IN" sz="1000" b="1" dirty="0">
                <a:latin typeface="Graphik Semibold" panose="020B0503030202060203" pitchFamily="34" charset="77"/>
              </a:rPr>
              <a:t>,</a:t>
            </a:r>
            <a:r>
              <a:rPr lang="en-US" sz="1000" dirty="0">
                <a:latin typeface="Graphik" panose="020B0503030202060203" pitchFamily="34" charset="0"/>
              </a:rPr>
              <a:t> </a:t>
            </a:r>
            <a:r>
              <a:rPr lang="en-US" sz="900" dirty="0">
                <a:latin typeface="Graphik" panose="020B0503030202060203" pitchFamily="34" charset="0"/>
              </a:rPr>
              <a:t>achieved through expert triaging, harmonized templates, faster root‑cause isolation, and consistent L1.5–L3 support across all regions. This significantly reduced high‑severity escalations and improved MES stability.</a:t>
            </a:r>
            <a:endParaRPr lang="en-IN" sz="900" dirty="0">
              <a:latin typeface="Graphik" panose="020B0503030202060203" pitchFamily="34" charset="77"/>
            </a:endParaRPr>
          </a:p>
          <a:p>
            <a:endParaRPr lang="en-IN" sz="1000" dirty="0">
              <a:latin typeface="Graphik" panose="020B0503030202060203" pitchFamily="34" charset="77"/>
            </a:endParaRPr>
          </a:p>
          <a:p>
            <a:r>
              <a:rPr lang="en-US" sz="900" b="1" dirty="0">
                <a:latin typeface="Graphik Semibold" panose="020B0503030202060203" pitchFamily="34" charset="77"/>
              </a:rPr>
              <a:t>15% year‑over‑year productivity improvement, </a:t>
            </a:r>
            <a:r>
              <a:rPr lang="en-US" sz="900" dirty="0">
                <a:latin typeface="Graphik" panose="020B0503030202060203" pitchFamily="34" charset="0"/>
              </a:rPr>
              <a:t>stemming from ticket elimination, increased automation, optimized support staffing, and reduced dependency on Körber. This lowered support effort and improved overall MES cost efficiency for BI</a:t>
            </a:r>
            <a:r>
              <a:rPr lang="en-US" sz="1000" dirty="0">
                <a:latin typeface="Graphik" panose="020B0503030202060203" pitchFamily="34" charset="0"/>
              </a:rPr>
              <a:t>.</a:t>
            </a:r>
            <a:endParaRPr lang="en-IN" sz="1000" dirty="0">
              <a:latin typeface="Graphik" panose="020B0503030202060203" pitchFamily="34" charset="77"/>
            </a:endParaRPr>
          </a:p>
        </p:txBody>
      </p:sp>
      <p:sp>
        <p:nvSpPr>
          <p:cNvPr id="29" name="TextBox 28">
            <a:extLst>
              <a:ext uri="{FF2B5EF4-FFF2-40B4-BE49-F238E27FC236}">
                <a16:creationId xmlns:a16="http://schemas.microsoft.com/office/drawing/2014/main" id="{E57BE6B1-53EA-31AB-9787-668AA8FA8323}"/>
              </a:ext>
            </a:extLst>
          </p:cNvPr>
          <p:cNvSpPr txBox="1"/>
          <p:nvPr/>
        </p:nvSpPr>
        <p:spPr>
          <a:xfrm>
            <a:off x="3056187" y="3676355"/>
            <a:ext cx="1853246" cy="969496"/>
          </a:xfrm>
          <a:prstGeom prst="rect">
            <a:avLst/>
          </a:prstGeom>
          <a:noFill/>
        </p:spPr>
        <p:txBody>
          <a:bodyPr wrap="square" lIns="0" tIns="0" rIns="0" bIns="0" rtlCol="0">
            <a:spAutoFit/>
          </a:bodyPr>
          <a:lstStyle/>
          <a:p>
            <a:pPr marL="171450" indent="-171450">
              <a:buFont typeface="Arial" panose="020B0604020202020204" pitchFamily="34" charset="0"/>
              <a:buChar char="•"/>
            </a:pPr>
            <a:r>
              <a:rPr lang="en-IN" sz="900" dirty="0">
                <a:latin typeface="Graphik" panose="020B0503030202060203" pitchFamily="34" charset="0"/>
              </a:rPr>
              <a:t>Limited PAS‑X V3.3 (Kubernetes) expertise internally</a:t>
            </a:r>
          </a:p>
          <a:p>
            <a:pPr marL="171450" indent="-171450">
              <a:buFont typeface="Arial" panose="020B0604020202020204" pitchFamily="34" charset="0"/>
              <a:buChar char="•"/>
            </a:pPr>
            <a:r>
              <a:rPr lang="en-IN" sz="900" dirty="0">
                <a:latin typeface="Graphik" panose="020B0503030202060203" pitchFamily="34" charset="0"/>
              </a:rPr>
              <a:t>Zero automation for incident / problem analysis</a:t>
            </a:r>
          </a:p>
          <a:p>
            <a:pPr marL="171450" indent="-171450">
              <a:buFont typeface="Arial" panose="020B0604020202020204" pitchFamily="34" charset="0"/>
              <a:buChar char="•"/>
            </a:pPr>
            <a:r>
              <a:rPr lang="en-US" sz="900" dirty="0">
                <a:latin typeface="Graphik" panose="020B0503030202060203" pitchFamily="34" charset="0"/>
              </a:rPr>
              <a:t>Siloed support model with inconsistent SLAs</a:t>
            </a:r>
            <a:endParaRPr lang="en-IN" sz="900" dirty="0">
              <a:latin typeface="Graphik" panose="020B0503030202060203" pitchFamily="34" charset="0"/>
            </a:endParaRPr>
          </a:p>
        </p:txBody>
      </p:sp>
      <p:sp>
        <p:nvSpPr>
          <p:cNvPr id="30" name="TextBox 29">
            <a:extLst>
              <a:ext uri="{FF2B5EF4-FFF2-40B4-BE49-F238E27FC236}">
                <a16:creationId xmlns:a16="http://schemas.microsoft.com/office/drawing/2014/main" id="{007C01D9-12FD-D016-4F4E-D35D73A3E9FE}"/>
              </a:ext>
            </a:extLst>
          </p:cNvPr>
          <p:cNvSpPr txBox="1"/>
          <p:nvPr/>
        </p:nvSpPr>
        <p:spPr>
          <a:xfrm>
            <a:off x="580296" y="3620953"/>
            <a:ext cx="2536294" cy="969496"/>
          </a:xfrm>
          <a:prstGeom prst="rect">
            <a:avLst/>
          </a:prstGeom>
          <a:noFill/>
        </p:spPr>
        <p:txBody>
          <a:bodyPr wrap="square" lIns="0" tIns="0" rIns="0" bIns="0" rtlCol="0">
            <a:spAutoFit/>
          </a:bodyPr>
          <a:lstStyle/>
          <a:p>
            <a:r>
              <a:rPr lang="en-IN" sz="900" b="1" dirty="0">
                <a:latin typeface="Graphik Medium" panose="020B0603030202060203" pitchFamily="34" charset="0"/>
              </a:rPr>
              <a:t>Major Challenges &amp; Financial Impact:</a:t>
            </a:r>
          </a:p>
          <a:p>
            <a:pPr marL="171450" indent="-171450">
              <a:buFont typeface="Arial" panose="020B0604020202020204" pitchFamily="34" charset="0"/>
              <a:buChar char="•"/>
            </a:pPr>
            <a:r>
              <a:rPr lang="fr-FR" sz="900" dirty="0">
                <a:latin typeface="Graphik" panose="020B0503030202060203" pitchFamily="34" charset="0"/>
              </a:rPr>
              <a:t>34 PAS‑X MES </a:t>
            </a:r>
            <a:r>
              <a:rPr lang="fr-FR" sz="900" dirty="0" err="1">
                <a:latin typeface="Graphik" panose="020B0503030202060203" pitchFamily="34" charset="0"/>
              </a:rPr>
              <a:t>systems</a:t>
            </a:r>
            <a:r>
              <a:rPr lang="fr-FR" sz="900" dirty="0">
                <a:latin typeface="Graphik" panose="020B0503030202060203" pitchFamily="34" charset="0"/>
              </a:rPr>
              <a:t> (multi‑version, multi‑</a:t>
            </a:r>
            <a:r>
              <a:rPr lang="fr-FR" sz="900" dirty="0" err="1">
                <a:latin typeface="Graphik" panose="020B0503030202060203" pitchFamily="34" charset="0"/>
              </a:rPr>
              <a:t>language</a:t>
            </a:r>
            <a:r>
              <a:rPr lang="fr-FR" sz="900" dirty="0">
                <a:latin typeface="Graphik" panose="020B0503030202060203" pitchFamily="34" charset="0"/>
              </a:rPr>
              <a:t>)</a:t>
            </a:r>
            <a:endParaRPr lang="en-IN" sz="900" dirty="0">
              <a:latin typeface="Graphik" panose="020B0503030202060203" pitchFamily="34" charset="0"/>
            </a:endParaRPr>
          </a:p>
          <a:p>
            <a:pPr marL="171450" indent="-171450">
              <a:buFont typeface="Arial" panose="020B0604020202020204" pitchFamily="34" charset="0"/>
              <a:buChar char="•"/>
            </a:pPr>
            <a:r>
              <a:rPr lang="en-US" sz="900" dirty="0">
                <a:latin typeface="Graphik" panose="020B0503030202060203" pitchFamily="34" charset="0"/>
              </a:rPr>
              <a:t>~10% potential demurrage cost reduction identified</a:t>
            </a:r>
            <a:endParaRPr lang="en-IN" sz="900" dirty="0">
              <a:latin typeface="Graphik" panose="020B0503030202060203" pitchFamily="34" charset="0"/>
            </a:endParaRPr>
          </a:p>
          <a:p>
            <a:pPr marL="171450" indent="-171450">
              <a:buFont typeface="Arial" panose="020B0604020202020204" pitchFamily="34" charset="0"/>
              <a:buChar char="•"/>
            </a:pPr>
            <a:r>
              <a:rPr lang="en-US" sz="900" dirty="0">
                <a:latin typeface="Graphik" panose="020B0503030202060203" pitchFamily="34" charset="0"/>
              </a:rPr>
              <a:t>30% critical‑incident reduction achieved through standardization</a:t>
            </a:r>
            <a:endParaRPr lang="en-IN" sz="900" dirty="0">
              <a:latin typeface="Graphik" panose="020B0503030202060203" pitchFamily="34" charset="0"/>
            </a:endParaRPr>
          </a:p>
        </p:txBody>
      </p:sp>
      <p:pic>
        <p:nvPicPr>
          <p:cNvPr id="63" name="Picture 62">
            <a:extLst>
              <a:ext uri="{FF2B5EF4-FFF2-40B4-BE49-F238E27FC236}">
                <a16:creationId xmlns:a16="http://schemas.microsoft.com/office/drawing/2014/main" id="{276B200A-0F78-F513-A7CE-15A9D8AFBE5C}"/>
              </a:ext>
            </a:extLst>
          </p:cNvPr>
          <p:cNvPicPr>
            <a:picLocks noChangeAspect="1"/>
          </p:cNvPicPr>
          <p:nvPr/>
        </p:nvPicPr>
        <p:blipFill>
          <a:blip r:embed="rId5"/>
          <a:stretch>
            <a:fillRect/>
          </a:stretch>
        </p:blipFill>
        <p:spPr>
          <a:xfrm>
            <a:off x="8451273" y="2562335"/>
            <a:ext cx="3389505" cy="3586644"/>
          </a:xfrm>
          <a:prstGeom prst="rect">
            <a:avLst/>
          </a:prstGeom>
        </p:spPr>
      </p:pic>
      <p:pic>
        <p:nvPicPr>
          <p:cNvPr id="5" name="Picture 4" descr="Blue text on a black background&#10;&#10;AI-generated content may be incorrect.">
            <a:extLst>
              <a:ext uri="{FF2B5EF4-FFF2-40B4-BE49-F238E27FC236}">
                <a16:creationId xmlns:a16="http://schemas.microsoft.com/office/drawing/2014/main" id="{BEDE5812-3481-A95A-CDB8-9F81A958A970}"/>
              </a:ext>
            </a:extLst>
          </p:cNvPr>
          <p:cNvPicPr>
            <a:picLocks noChangeAspect="1"/>
          </p:cNvPicPr>
          <p:nvPr/>
        </p:nvPicPr>
        <p:blipFill>
          <a:blip r:embed="rId6"/>
          <a:stretch>
            <a:fillRect/>
          </a:stretch>
        </p:blipFill>
        <p:spPr>
          <a:xfrm>
            <a:off x="10141888" y="44239"/>
            <a:ext cx="1933575" cy="600075"/>
          </a:xfrm>
          <a:prstGeom prst="rect">
            <a:avLst/>
          </a:prstGeom>
        </p:spPr>
      </p:pic>
    </p:spTree>
    <p:extLst>
      <p:ext uri="{BB962C8B-B14F-4D97-AF65-F5344CB8AC3E}">
        <p14:creationId xmlns:p14="http://schemas.microsoft.com/office/powerpoint/2010/main" val="2209810466"/>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AFDC12F5660D9A43A88DFBE9BC16E4F2" ma:contentTypeVersion="14" ma:contentTypeDescription="Create a new document." ma:contentTypeScope="" ma:versionID="ce80e8a5afb4871db0598ca40f12c3e8">
  <xsd:schema xmlns:xsd="http://www.w3.org/2001/XMLSchema" xmlns:xs="http://www.w3.org/2001/XMLSchema" xmlns:p="http://schemas.microsoft.com/office/2006/metadata/properties" xmlns:ns2="295aed33-4a3f-445c-a549-c479d127bbbe" xmlns:ns3="ce2f3d7f-b1bf-4ebe-be62-c8b32f183ef7" targetNamespace="http://schemas.microsoft.com/office/2006/metadata/properties" ma:root="true" ma:fieldsID="873c55a8b2d12bcca8a7b8ac105852c7" ns2:_="" ns3:_="">
    <xsd:import namespace="295aed33-4a3f-445c-a549-c479d127bbbe"/>
    <xsd:import namespace="ce2f3d7f-b1bf-4ebe-be62-c8b32f183ef7"/>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LengthInSeconds" minOccurs="0"/>
                <xsd:element ref="ns2:lcf76f155ced4ddcb4097134ff3c332f" minOccurs="0"/>
                <xsd:element ref="ns3:TaxCatchAll" minOccurs="0"/>
                <xsd:element ref="ns2:MediaServiceGenerationTime" minOccurs="0"/>
                <xsd:element ref="ns2:MediaServiceEventHashCode" minOccurs="0"/>
                <xsd:element ref="ns2:MediaServiceOCR"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95aed33-4a3f-445c-a549-c479d127bbb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6d165d17-9b79-46c3-82b9-c927e733c429" ma:termSetId="09814cd3-568e-fe90-9814-8d621ff8fb84" ma:anchorId="fba54fb3-c3e1-fe81-a776-ca4b69148c4d" ma:open="true" ma:isKeyword="false">
      <xsd:complexType>
        <xsd:sequence>
          <xsd:element ref="pc:Terms" minOccurs="0" maxOccurs="1"/>
        </xsd:sequence>
      </xsd:complex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e2f3d7f-b1bf-4ebe-be62-c8b32f183ef7"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21cee61f-0c7f-4b2c-a0f0-08f455c0c4a0}" ma:internalName="TaxCatchAll" ma:showField="CatchAllData" ma:web="ce2f3d7f-b1bf-4ebe-be62-c8b32f183ef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ce2f3d7f-b1bf-4ebe-be62-c8b32f183ef7" xsi:nil="true"/>
    <lcf76f155ced4ddcb4097134ff3c332f xmlns="295aed33-4a3f-445c-a549-c479d127bbbe">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189E8360-EDCE-4975-94B9-58DCE1193C72}">
  <ds:schemaRefs>
    <ds:schemaRef ds:uri="http://schemas.microsoft.com/sharepoint/v3/contenttype/forms"/>
  </ds:schemaRefs>
</ds:datastoreItem>
</file>

<file path=customXml/itemProps2.xml><?xml version="1.0" encoding="utf-8"?>
<ds:datastoreItem xmlns:ds="http://schemas.openxmlformats.org/officeDocument/2006/customXml" ds:itemID="{AC4F162B-C570-44EE-9C76-1BAB6DA23C1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95aed33-4a3f-445c-a549-c479d127bbbe"/>
    <ds:schemaRef ds:uri="ce2f3d7f-b1bf-4ebe-be62-c8b32f183ef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F1F5089-BBE0-435A-AB9E-36B41C608E0E}">
  <ds:schemaRefs>
    <ds:schemaRef ds:uri="http://schemas.microsoft.com/office/2006/metadata/properties"/>
    <ds:schemaRef ds:uri="http://schemas.microsoft.com/office/2006/documentManagement/types"/>
    <ds:schemaRef ds:uri="ce2f3d7f-b1bf-4ebe-be62-c8b32f183ef7"/>
    <ds:schemaRef ds:uri="http://www.w3.org/XML/1998/namespace"/>
    <ds:schemaRef ds:uri="http://schemas.microsoft.com/office/infopath/2007/PartnerControls"/>
    <ds:schemaRef ds:uri="http://purl.org/dc/terms/"/>
    <ds:schemaRef ds:uri="http://schemas.openxmlformats.org/package/2006/metadata/core-properties"/>
    <ds:schemaRef ds:uri="295aed33-4a3f-445c-a549-c479d127bbbe"/>
    <ds:schemaRef ds:uri="http://purl.org/dc/dcmitype/"/>
    <ds:schemaRef ds:uri="http://purl.org/dc/elements/1.1/"/>
  </ds:schemaRefs>
</ds:datastoreItem>
</file>

<file path=docMetadata/LabelInfo.xml><?xml version="1.0" encoding="utf-8"?>
<clbl:labelList xmlns:clbl="http://schemas.microsoft.com/office/2020/mipLabelMetadata">
  <clbl:label id="{e0793d39-0939-496d-b129-198edd916feb}" enabled="0" method="" siteId="{e0793d39-0939-496d-b129-198edd916feb}" removed="1"/>
</clbl:labelList>
</file>

<file path=docProps/app.xml><?xml version="1.0" encoding="utf-8"?>
<Properties xmlns="http://schemas.openxmlformats.org/officeDocument/2006/extended-properties" xmlns:vt="http://schemas.openxmlformats.org/officeDocument/2006/docPropsVTypes">
  <Template/>
  <TotalTime>234</TotalTime>
  <Words>636</Words>
  <Application>Microsoft Office PowerPoint</Application>
  <PresentationFormat>Widescreen</PresentationFormat>
  <Paragraphs>25</Paragraphs>
  <Slides>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Aptos</vt:lpstr>
      <vt:lpstr>Arial</vt:lpstr>
      <vt:lpstr>Graphik</vt:lpstr>
      <vt:lpstr>Graphik Medium</vt:lpstr>
      <vt:lpstr>Graphik Semibold</vt:lpstr>
      <vt:lpstr>Inter</vt:lpstr>
      <vt:lpstr>1_Office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Kc, Ajo</dc:creator>
  <cp:lastModifiedBy>Kumar Maiti, Mainak</cp:lastModifiedBy>
  <cp:revision>13</cp:revision>
  <dcterms:created xsi:type="dcterms:W3CDTF">2026-02-13T10:38:59Z</dcterms:created>
  <dcterms:modified xsi:type="dcterms:W3CDTF">2026-03-18T06:50:51Z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0x010100AFDC12F5660D9A43A88DFBE9BC16E4F2</vt:lpwstr>
  </property>
  <property fmtid="{D5CDD505-2E9C-101B-9397-08002B2CF9AE}" pid="3" name="MediaServiceImageTags">
    <vt:lpwstr/>
  </property>
</Properties>
</file>